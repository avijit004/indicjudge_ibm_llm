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ced481a4e34e27" /><Relationship Type="http://schemas.openxmlformats.org/officeDocument/2006/relationships/extended-properties" Target="/docProps/app.xml" Id="Rfce7cfdac7914336" /><Relationship Type="http://schemas.openxmlformats.org/officeDocument/2006/relationships/officeDocument" Target="/ppt/presentation.xml" Id="R320ddc5e72374e34" /></Relationships>
</file>

<file path=ppt/presentation.xml><?xml version="1.0" encoding="utf-8"?>
<p:presentation xmlns:p="http://schemas.openxmlformats.org/presentationml/2006/main">
  <p:sldMasterIdLst>
    <p:sldMasterId xmlns:r="http://schemas.openxmlformats.org/officeDocument/2006/relationships" id="2147483648" r:id="Ra98b49f8880b4669"/>
  </p:sldMasterIdLst>
  <p:notesMasterIdLst>
    <p:notesMasterId xmlns:r="http://schemas.openxmlformats.org/officeDocument/2006/relationships" r:id="Re1bc9ba2c832453f"/>
  </p:notesMasterIdLst>
  <p:sldIdLst>
    <p:sldId xmlns:r="http://schemas.openxmlformats.org/officeDocument/2006/relationships" id="256" r:id="R866084ef593740ac"/>
    <p:sldId xmlns:r="http://schemas.openxmlformats.org/officeDocument/2006/relationships" id="257" r:id="R5a60bd670f6d4e16"/>
    <p:sldId xmlns:r="http://schemas.openxmlformats.org/officeDocument/2006/relationships" id="258" r:id="R5e599d4c42654cb4"/>
    <p:sldId xmlns:r="http://schemas.openxmlformats.org/officeDocument/2006/relationships" id="259" r:id="Rce9b47d5cc6045bb"/>
    <p:sldId xmlns:r="http://schemas.openxmlformats.org/officeDocument/2006/relationships" id="260" r:id="Rb29b02ff393a48ee"/>
    <p:sldId xmlns:r="http://schemas.openxmlformats.org/officeDocument/2006/relationships" id="261" r:id="Recb788ce4dae4253"/>
    <p:sldId xmlns:r="http://schemas.openxmlformats.org/officeDocument/2006/relationships" id="262" r:id="R38d581bcbd5c49e1"/>
    <p:sldId xmlns:r="http://schemas.openxmlformats.org/officeDocument/2006/relationships" id="263" r:id="R5fcbf4353ea84296"/>
    <p:sldId xmlns:r="http://schemas.openxmlformats.org/officeDocument/2006/relationships" id="264" r:id="R957a0ff8ab994200"/>
    <p:sldId xmlns:r="http://schemas.openxmlformats.org/officeDocument/2006/relationships" id="265" r:id="R573e720ce4ed49c2"/>
    <p:sldId xmlns:r="http://schemas.openxmlformats.org/officeDocument/2006/relationships" id="266" r:id="Ref206ae70e64438f"/>
    <p:sldId xmlns:r="http://schemas.openxmlformats.org/officeDocument/2006/relationships" id="267" r:id="Rba9cf717602e4933"/>
    <p:sldId xmlns:r="http://schemas.openxmlformats.org/officeDocument/2006/relationships" id="268" r:id="Rca40875a44bc4b23"/>
    <p:sldId xmlns:r="http://schemas.openxmlformats.org/officeDocument/2006/relationships" id="269" r:id="R195f74bb04954675"/>
    <p:sldId xmlns:r="http://schemas.openxmlformats.org/officeDocument/2006/relationships" id="270" r:id="R597f1f481b474eb9"/>
    <p:sldId xmlns:r="http://schemas.openxmlformats.org/officeDocument/2006/relationships" id="271" r:id="R22ef4fd1fd16470f"/>
    <p:sldId xmlns:r="http://schemas.openxmlformats.org/officeDocument/2006/relationships" id="272" r:id="R8601ccf66e4c4a56"/>
    <p:sldId xmlns:r="http://schemas.openxmlformats.org/officeDocument/2006/relationships" id="273" r:id="Rb9259ed17c3e4b23"/>
    <p:sldId xmlns:r="http://schemas.openxmlformats.org/officeDocument/2006/relationships" id="274" r:id="R339ad495d3b94be1"/>
    <p:sldId xmlns:r="http://schemas.openxmlformats.org/officeDocument/2006/relationships" id="275" r:id="R95c1238f96084078"/>
    <p:sldId xmlns:r="http://schemas.openxmlformats.org/officeDocument/2006/relationships" id="276" r:id="R1026b04a543341b5"/>
    <p:sldId xmlns:r="http://schemas.openxmlformats.org/officeDocument/2006/relationships" id="277" r:id="R3a66d978fb85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cf5995b94d4d4e" /><Relationship Type="http://schemas.openxmlformats.org/officeDocument/2006/relationships/slideMaster" Target="/ppt/slideMasters/slideMaster1.xml" Id="Ra98b49f8880b4669" /><Relationship Type="http://schemas.openxmlformats.org/officeDocument/2006/relationships/notesMaster" Target="/ppt/notesMasters/notesMaster1.xml" Id="Re1bc9ba2c832453f" /><Relationship Type="http://schemas.openxmlformats.org/officeDocument/2006/relationships/presProps" Target="/ppt/presProps.xml" Id="Rc1d3d9887bc74df5" /><Relationship Type="http://schemas.openxmlformats.org/officeDocument/2006/relationships/tableStyles" Target="/ppt/tableStyles.xml" Id="R8fa57f5d23374762" /><Relationship Type="http://schemas.openxmlformats.org/officeDocument/2006/relationships/slide" Target="/ppt/slides/slide1.xml" Id="R866084ef593740ac" /><Relationship Type="http://schemas.openxmlformats.org/officeDocument/2006/relationships/slide" Target="/ppt/slides/slide2.xml" Id="R5a60bd670f6d4e16" /><Relationship Type="http://schemas.openxmlformats.org/officeDocument/2006/relationships/slide" Target="/ppt/slides/slide3.xml" Id="R5e599d4c42654cb4" /><Relationship Type="http://schemas.openxmlformats.org/officeDocument/2006/relationships/slide" Target="/ppt/slides/slide4.xml" Id="Rce9b47d5cc6045bb" /><Relationship Type="http://schemas.openxmlformats.org/officeDocument/2006/relationships/slide" Target="/ppt/slides/slide5.xml" Id="Rb29b02ff393a48ee" /><Relationship Type="http://schemas.openxmlformats.org/officeDocument/2006/relationships/slide" Target="/ppt/slides/slide6.xml" Id="Recb788ce4dae4253" /><Relationship Type="http://schemas.openxmlformats.org/officeDocument/2006/relationships/slide" Target="/ppt/slides/slide7.xml" Id="R38d581bcbd5c49e1" /><Relationship Type="http://schemas.openxmlformats.org/officeDocument/2006/relationships/slide" Target="/ppt/slides/slide8.xml" Id="R5fcbf4353ea84296" /><Relationship Type="http://schemas.openxmlformats.org/officeDocument/2006/relationships/slide" Target="/ppt/slides/slide9.xml" Id="R957a0ff8ab994200" /><Relationship Type="http://schemas.openxmlformats.org/officeDocument/2006/relationships/slide" Target="/ppt/slides/slide10.xml" Id="R573e720ce4ed49c2" /><Relationship Type="http://schemas.openxmlformats.org/officeDocument/2006/relationships/slide" Target="/ppt/slides/slide11.xml" Id="Ref206ae70e64438f" /><Relationship Type="http://schemas.openxmlformats.org/officeDocument/2006/relationships/slide" Target="/ppt/slides/slide12.xml" Id="Rba9cf717602e4933" /><Relationship Type="http://schemas.openxmlformats.org/officeDocument/2006/relationships/slide" Target="/ppt/slides/slide13.xml" Id="Rca40875a44bc4b23" /><Relationship Type="http://schemas.openxmlformats.org/officeDocument/2006/relationships/slide" Target="/ppt/slides/slide14.xml" Id="R195f74bb04954675" /><Relationship Type="http://schemas.openxmlformats.org/officeDocument/2006/relationships/slide" Target="/ppt/slides/slide15.xml" Id="R597f1f481b474eb9" /><Relationship Type="http://schemas.openxmlformats.org/officeDocument/2006/relationships/slide" Target="/ppt/slides/slide16.xml" Id="R22ef4fd1fd16470f" /><Relationship Type="http://schemas.openxmlformats.org/officeDocument/2006/relationships/slide" Target="/ppt/slides/slide17.xml" Id="R8601ccf66e4c4a56" /><Relationship Type="http://schemas.openxmlformats.org/officeDocument/2006/relationships/slide" Target="/ppt/slides/slide18.xml" Id="Rb9259ed17c3e4b23" /><Relationship Type="http://schemas.openxmlformats.org/officeDocument/2006/relationships/slide" Target="/ppt/slides/slide19.xml" Id="R339ad495d3b94be1" /><Relationship Type="http://schemas.openxmlformats.org/officeDocument/2006/relationships/slide" Target="/ppt/slides/slide20.xml" Id="R95c1238f96084078" /><Relationship Type="http://schemas.openxmlformats.org/officeDocument/2006/relationships/slide" Target="/ppt/slides/slide21.xml" Id="R1026b04a543341b5" /><Relationship Type="http://schemas.openxmlformats.org/officeDocument/2006/relationships/slide" Target="/ppt/slides/slide22.xml" Id="R3a66d978fb85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caee788bc74a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233607b3844125" /><Relationship Type="http://schemas.openxmlformats.org/officeDocument/2006/relationships/notesMaster" Target="/ppt/notesMasters/notesMaster1.xml" Id="R8a10a1ca429a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18a5863b734c61" /><Relationship Type="http://schemas.openxmlformats.org/officeDocument/2006/relationships/notesMaster" Target="/ppt/notesMasters/notesMaster1.xml" Id="Re2bbbb46291c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2b8f11f8a5420a" /><Relationship Type="http://schemas.openxmlformats.org/officeDocument/2006/relationships/notesMaster" Target="/ppt/notesMasters/notesMaster1.xml" Id="Rd8d6bdc8161849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5232d9fba04f14" /><Relationship Type="http://schemas.openxmlformats.org/officeDocument/2006/relationships/notesMaster" Target="/ppt/notesMasters/notesMaster1.xml" Id="Rbb2a530f7f4d43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17d540afe84014" /><Relationship Type="http://schemas.openxmlformats.org/officeDocument/2006/relationships/notesMaster" Target="/ppt/notesMasters/notesMaster1.xml" Id="R0b21fae5ea5a4a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8c6009c9d44528" /><Relationship Type="http://schemas.openxmlformats.org/officeDocument/2006/relationships/notesMaster" Target="/ppt/notesMasters/notesMaster1.xml" Id="Rdc7d09bbe6294b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45081cabef4b9c" /><Relationship Type="http://schemas.openxmlformats.org/officeDocument/2006/relationships/notesMaster" Target="/ppt/notesMasters/notesMaster1.xml" Id="R78319deb0e2241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2a6aec05b541a0" /><Relationship Type="http://schemas.openxmlformats.org/officeDocument/2006/relationships/notesMaster" Target="/ppt/notesMasters/notesMaster1.xml" Id="R35b56ef8eb6d4d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49a885eb2946b5" /><Relationship Type="http://schemas.openxmlformats.org/officeDocument/2006/relationships/notesMaster" Target="/ppt/notesMasters/notesMaster1.xml" Id="R307efd5ef54042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7a0c1298d4ddf" /><Relationship Type="http://schemas.openxmlformats.org/officeDocument/2006/relationships/notesMaster" Target="/ppt/notesMasters/notesMaster1.xml" Id="R221e510b62674f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88ebef3b3d442c" /><Relationship Type="http://schemas.openxmlformats.org/officeDocument/2006/relationships/notesMaster" Target="/ppt/notesMasters/notesMaster1.xml" Id="R1bc1b0b609854f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518a77460843db" /><Relationship Type="http://schemas.openxmlformats.org/officeDocument/2006/relationships/notesMaster" Target="/ppt/notesMasters/notesMaster1.xml" Id="R8f8b9d75894a45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b274b837254205" /><Relationship Type="http://schemas.openxmlformats.org/officeDocument/2006/relationships/notesMaster" Target="/ppt/notesMasters/notesMaster1.xml" Id="R3756ddadec714a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a087f2202b4712" /><Relationship Type="http://schemas.openxmlformats.org/officeDocument/2006/relationships/notesMaster" Target="/ppt/notesMasters/notesMaster1.xml" Id="Ra75a4e293ba444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1cd63963be4a56" /><Relationship Type="http://schemas.openxmlformats.org/officeDocument/2006/relationships/notesMaster" Target="/ppt/notesMasters/notesMaster1.xml" Id="R5b3bf8c3215246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3e8000062447a9" /><Relationship Type="http://schemas.openxmlformats.org/officeDocument/2006/relationships/notesMaster" Target="/ppt/notesMasters/notesMaster1.xml" Id="R0264819ac0e64b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c9b27452db45a2" /><Relationship Type="http://schemas.openxmlformats.org/officeDocument/2006/relationships/notesMaster" Target="/ppt/notesMasters/notesMaster1.xml" Id="Re124cdcfc8c74a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35907fcc5245cf" /><Relationship Type="http://schemas.openxmlformats.org/officeDocument/2006/relationships/notesMaster" Target="/ppt/notesMasters/notesMaster1.xml" Id="Rc476462807ca4d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b68980cca047e1" /><Relationship Type="http://schemas.openxmlformats.org/officeDocument/2006/relationships/notesMaster" Target="/ppt/notesMasters/notesMaster1.xml" Id="Rb940afb03d8c46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702faca6234a47" /><Relationship Type="http://schemas.openxmlformats.org/officeDocument/2006/relationships/notesMaster" Target="/ppt/notesMasters/notesMaster1.xml" Id="R6b305808cd4c44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c046c4322c4dd7" /><Relationship Type="http://schemas.openxmlformats.org/officeDocument/2006/relationships/notesMaster" Target="/ppt/notesMasters/notesMaster1.xml" Id="R0cfbe11009bc4b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696cbce9bc4616" /><Relationship Type="http://schemas.openxmlformats.org/officeDocument/2006/relationships/notesMaster" Target="/ppt/notesMasters/notesMaster1.xml" Id="Rcca66ef542e640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project tests whether model judges distinguish correct answers from good reasoning and compliance with deliberately different generation instructions. Prepared for an IBM research discussion, not an official IBM-branded publication. September 2026. Judge totals and scope are documented later in the deck.</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Exact counts: correctness agreement 4,898/5,000. Reasoning exact-score agreement 1,464/5,000. Mean absolute score difference 0.8242. Human sources: human_evaluation/reviewer_1.xlsx and reviewer_2.xlsx, 200 blank items each.</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ten *_experiment/questions.json files and gemma4_26b/31b_&lt;language&gt;_responses.csv files. Existing loaders reference sarvamai/gsm8k-indic for GSM and juletxara/mgsm for MGSM. 50 language-question records per dataset, 500 total language-question records. Do not interpret these as 500 distinct underlying math problems. Matching numeric question IDs across datasets need not identify the same problem. Candidate names reproduce the project labels, not an independent checkpoint audit.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PROMPT_INTENTS and the stored original generation prompts in all language judge/candidate CSVs. P3 combines a sound method with a small arithmetic error producing a wrong answer. Exact generation prompts, not only these summaries, determine compliance. A response can satisfy P3 or P4 while having an incorrect final answer.</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JUDGE_PROMPT in sarvam_30b_judge/sarvam_judge_telugu.py and corresponding Qwen/Ministral scripts. All outputs also include a written justification. Reference comes from answer_number when available, otherwise from the final number after #### in answer. A reference is a mathematical answer, not a human evaluation of a candidate. Correctness is based only on visible response, while reasoning quality sees both fields.</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PHOTO-2026-09-29-20-01-07.jpg, corroborated by JUDGE_PROMPT in the Sarvam language scripts. The screenshot describes the existing rubric. It does not introduce an additional scoring dimension. Quality considers the model reasoning trace and visible response, as specified in the project scripts.</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language scripts and run_all.py in qwen3_14b_judge and ministral_8b_judge, plus Sarvam language scripts. Outputs are resolved relative to script directories. Strict validation and nonzero incomplete-run reporting are intended safeguards. Current code is not a complete historical record of the settings used for every saved Sarvam row. This presentation is not a comprehensive code certification or live server validation.</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based on the experiment and judge scripts, run_all.py and human_evaluation/README.md. Boxes and connectors are editable PowerPoint elements. The judge input combines each candidate with its exact generation prompt and reference from questions.json. Candidate generation is performed by the two Gemma models. Sarvam and Qwen evaluate 5,000 responses each, while Ministral evaluates the fixed 500-response subset. Automated result validation rejects incomplete or malformed judgments. Human ratings remain pending in the local sheets. The human sample differs from the Ministral subset, so compare only overlapping keys or collect further reviews.</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user-provided PHOTO-2026-09-29-20-00-43 2.jpg, PHOTO-2026-09-29-20-00-43 3.jpg and PHOTO-2026-09-29-20-00-43.jpg. The screenshots record one entrypoint per language and all twenty CSVs. Their old sarvam_judge/ folder is now sarvam_30b_judge/ in the current project. Each script reads two candidate CSVs containing 250 responses each, 500 combined. Separate qwen3_14b_judge/ and ministral_8b_judge/ folders preserve judge-specific entrypoints and outputs. Ministral uses its fixed 500-response subset.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Sources: ministral_8b_judge/README.md and ministral_8b_judge/ministral_8b_judge_&lt;language&gt;_results.csv, joined to the same keys from Sarvam and Qwen. There are 50 rows per language and 500 total, IDs 1–5, P1–P5, both candidate models. Inputs match across all three judges on this subset. This is a fixed first-five selection, not random sampling.</a:t>
            </a:r>
          </a:p>
          <a:p xmlns:a="http://schemas.openxmlformats.org/drawingml/2006/main">
            <a:r>
              <a:t>All planned judgments are present locally. No missing, duplicate or extra expected keys in the 30 result files. Nonempty justifications, booleans and score domains validated for the analysis. Saved rows do not prove judgments are substantively correct. Illustrations supplied by the user: codex-clipboard-feca11f1-7676-49ca-8b59-0705c1f1ac02.png, codex-clipboard-5bfca5d0-2882-404e-8ad5-030f612ac762.png, codex-clipboard-11737207-e9c1-4cd8-988c-decc19dc08a4.png. They are conceptual illustrations and do not represent official model branding or self-evaluation.</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screenshot codex-clipboard-48580fde-2f6b-4301-b491-dfdad945ac57.png. Original image embedded without altering its cell contents. This is an illustrative view of saved output, not a separate statistical result or a live status check. Some headers and cell contents are truncated by the spreadsheet application in the source screenshot. Inspect the underlying CSV for complete text. The common fields include candidate identifiers, problem and original prompt, reasoning and visible response, reference answer, judge model, answer_correct, reasoning_quality and follows_prompt_intent.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screenshot codex-clipboard-ca63cb36-15a1-4611-a679-f9fa3f9bfacd.png. Original image embedded without altering its cell contents. This is an illustrative view of saved output, not a separate statistical result or a live status check. Some headers and cell contents are truncated by the spreadsheet application in the source screenshot. Inspect the underlying CSV for complete text. The common fields include candidate identifiers, problem and original prompt, reasoning and visible response, reference answer, judge model, answer_correct, reasoning_quality and follows_prompt_intent.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screenshot codex-clipboard-01e6c4a3-2cef-48bb-a952-1dd35825672a.png. Original image embedded without altering its cell contents. This is an illustrative view of saved output, not a separate statistical result or a live status check. Some headers and cell contents are truncated by the spreadsheet application in the source screenshot. Inspect the underlying CSV for complete text. The common fields include candidate identifiers, problem and original prompt, reasoning and visible response, reference answer, judge model, answer_correct, reasoning_quality and follows_prompt_intent.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Chart measures the percentage of candidate responses each judge labels answer_correct=true, not judge accuracy. Denominator 1,000 per prompt, pooled across both candidate models and ten languages. Values: {"Sarvam":{"P1":{"n":1000,"correct":95,"compliance":97.7,"score":4.018},"P2":{"n":1000,"correct":91.3,"compliance":88.5,"score":2.442},"P3":{"n":1000,"correct":0.7,"compliance":96.1,"score":3.056},"P4":{"n":1000,"correct":0.9,"compliance":84.9,"score":1.765},"P5":{"n":1000,"correct":95.1,"compliance":77.3,"score":3.869}},"Qwen":{"P1":{"n":1000,"correct":95,"compliance":99.2,"score":4.895},"P2":{"n":1000,"correct":91.2,"compliance":84.1,"score":3.306},"P3":{"n":1000,"correct":0.8,"compliance":99.5,"score":3.763},"P4":{"n":1000,"correct":0.1,"compliance":99.9,"score":1.692},"P5":{"n":1000,"correct":95.5,"compliance":91.6,"score":4.531}},"Ministral":{"P1":{"n":100,"correct":93,"compliance":92,"score":4.29},"P2":{"n":100,"correct":97,"compliance":87,"score":2.99},"P3":{"n":100,"correct":2,"compliance":97,"score":3.83},"P4":{"n":100,"correct":1,"compliance":100,"score":1.83},"P5":{"n":100,"correct":94,"compliance":25,"score":3.28}}}. All saved candidates are included, including salvaged responses.</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Arithmetic means summarize an ordinal 0–5 scale and should be supplemented with score distributions and weighted agreement. Score means are higher for Qwen in P1, P2, P3 and P5, slightly lower in P4. P5 reasoning scores also include internal reasoning, despite its brief visible answer instruction. These differences do not establish which judge is better calibrated.</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Agreement means equal Boolean labels. Raw language rates are descriptive and are not controlled comparisons of language difficulty. The underlying questions and output characteristics can differ. Correctness agreement ranges 96.4–99.2%, compliance 84.0–89.8%.</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ministral_8b_judge/README.md and ministral_8b_judge/ministral_8b_judge_&lt;language&gt;_results.csv, joined to the same keys from Sarvam and Qwen. There are 50 rows per language and 500 total, IDs 1–5, P1–P5, both candidate models. Inputs match across all three judges on this subset. This is a fixed first-five selection, not random sampling.</a:t>
            </a:r>
          </a:p>
          <a:p xmlns:a="http://schemas.openxmlformats.org/drawingml/2006/main">
            <a:r>
              <a:t>All pairwise metrics here use exactly the same 500 keys. MAE is the mean absolute difference in integer reasoning scores, 0–5 scale. Rates must not be compared directly with full-set averages as evidence of model superiority. Pairwise exact reasoning agreement: Sarvam/Qwen 31.0%, Sarvam/Ministral 38.4%, Qwen/Ministral 44.4%.</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ministral_8b_judge/README.md and ministral_8b_judge/ministral_8b_judge_&lt;language&gt;_results.csv, joined to the same keys from Sarvam and Qwen. There are 50 rows per language and 500 total, IDs 1–5, P1–P5, both candidate models. Inputs match across all three judges on this subset. This is a fixed first-five selection, not random sampling.</a:t>
            </a:r>
          </a:p>
          <a:p xmlns:a="http://schemas.openxmlformats.org/drawingml/2006/main">
            <a:r>
              <a:t>Metric: fraction with follows_prompt_intent=true among the same 100 P5 response keys. Sarvam 82/100, Qwen 90/100, Ministral 25/100. Exact prompts and complete outputs should be examined before attributing the gap to language ability or judge quality. This is a prioritization signal for adjudication, not evidence that the majority is correct.</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human_evaluation/README.md, prepare_sheets.py, reviewer_1.xlsx and reviewer_2.xlsx. Seed 20260925. There are 100 language/model/prompt strata, 2 samples per stratum, 20 per language. Both workbooks contain 200 items with all rating statuses blank and zero fully populated rating sets. Only local copies were checked. Unreturned reviews may exist elsewhere. The 200-item human sample is different from the fixed 500-item Ministral sample, so compare only overlapping keys or collect additional ratings. Translation-assisted ratings should be separately labeled.</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Salvaged count: exact marker [SALVAGED FROM REASONING] occurs in 353 Qwen-input response fields, identical to Sarvam inputs, 7.06% of 5,000. Recovery scripts in experiment folders copy content from internal reasoning when visible content is absent. Model reasoning text is an observable generated artifact, not a verified account of cognition. Configuration provenance should record checkpoint, GGUF hash, quantization, llama.cpp version, prompt version and actual parameters for future controlled runs.</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research actions, not a claim of an IBM product integration or commitment. Potential relevance is an auditable evaluation process for multilingual model quality. Establish human agreement and per-language error profiles before recommending a judge. Measure latency and compute cost prospectively because current result files are insufficient to establish throughput or cost rankings. Expand Ministral only if the pilot comparison supports the research question.</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sarvam_30b_judge/sarvam_judge_&lt;language&gt;_results.csv and qwen3_14b_judge/qwen3_14b_judge_&lt;language&gt;_results.csv, all ten languages. Join key is (language, source_model, question_id, prompt_id). Each file has 500 unique expected keys. Input question, original prompt, reasoning, visible response and correct_answer match across both judges for all 5,000 keys. Booleans and integer 0–5 scores were validated for this summary.</a:t>
            </a:r>
          </a:p>
          <a:p xmlns:a="http://schemas.openxmlformats.org/drawingml/2006/main">
            <a:r>
              <a:t>Sources: ministral_8b_judge/README.md and ministral_8b_judge/ministral_8b_judge_&lt;language&gt;_results.csv, joined to the same keys from Sarvam and Qwen. There are 50 rows per language and 500 total, IDs 1–5, P1–P5, both candidate models. Inputs match across all three judges on this subset. This is a fixed first-five selection, not random sampling.</a:t>
            </a:r>
          </a:p>
          <a:p xmlns:a="http://schemas.openxmlformats.org/drawingml/2006/main">
            <a:r>
              <a:t>Human evidence: human_evaluation/README.md, prepare_sheets.py, reviewer_1.xlsx and reviewer_2.xlsx. Ground truth: all ten experiment/questions.json files. Model labels and rubric: judge script configuration and JUDGE_PROMPT. This presentation aggregates existing result files without changing them or launching inference. Percentages rounded to one decimal and MAE to two decimals. No claim of statistical significance, human-grounded accuracy or production readiness is made.</a:t>
            </a:r>
          </a:p>
          <a:p xmlns:a="http://schemas.openxmlformats.org/drawingml/2006/main">
            <a:r>
              <a:t/>
            </a:r>
          </a:p>
          <a:p xmlns:a="http://schemas.openxmlformats.org/drawingml/2006/main">
            <a:r>
              <a:t>Local project snapshot: 30 September 2026. Analysis performed read-only. Counts describe saved local results, not a live server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50fb9033814b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0e3c48c2a047d3" /><Relationship Type="http://schemas.openxmlformats.org/officeDocument/2006/relationships/slideLayout" Target="/ppt/slideLayouts/slideLayout1.xml" Id="R9c66fa55416142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66fa55416142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f38f5fd2c74d36" /><Relationship Type="http://schemas.openxmlformats.org/officeDocument/2006/relationships/notesSlide" Target="/ppt/notesSlides/notesSlide1.xml" Id="Rdc803fa2b5f443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c19d1653da466d" /><Relationship Type="http://schemas.openxmlformats.org/officeDocument/2006/relationships/notesSlide" Target="/ppt/notesSlides/notesSlide2.xml" Id="R7023bcc0acf346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50191b454643d2" /><Relationship Type="http://schemas.openxmlformats.org/officeDocument/2006/relationships/notesSlide" Target="/ppt/notesSlides/notesSlide3.xml" Id="R38473f2e50064c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a25d8124c043b6" /><Relationship Type="http://schemas.openxmlformats.org/officeDocument/2006/relationships/notesSlide" Target="/ppt/notesSlides/notesSlide4.xml" Id="Rf3af53ab2a064b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b05073fb1c4afa" /><Relationship Type="http://schemas.openxmlformats.org/officeDocument/2006/relationships/notesSlide" Target="/ppt/notesSlides/notesSlide5.xml" Id="R5ad192b9bd0346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80961cb2d841e8" /><Relationship Type="http://schemas.openxmlformats.org/officeDocument/2006/relationships/notesSlide" Target="/ppt/notesSlides/notesSlide6.xml" Id="Reb685c1daa3849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8f9c458ed5483d" /><Relationship Type="http://schemas.openxmlformats.org/officeDocument/2006/relationships/notesSlide" Target="/ppt/notesSlides/notesSlide7.xml" Id="Rcd4c15a4a95640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d3eaec17eb48c5" /><Relationship Type="http://schemas.openxmlformats.org/officeDocument/2006/relationships/notesSlide" Target="/ppt/notesSlides/notesSlide8.xml" Id="R7f3b7ac64dc641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2a1f5e0da14cdb" /><Relationship Type="http://schemas.openxmlformats.org/officeDocument/2006/relationships/notesSlide" Target="/ppt/notesSlides/notesSlide9.xml" Id="R02c0289f64134e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cb346ca7ea47ab" /><Relationship Type="http://schemas.openxmlformats.org/officeDocument/2006/relationships/image" Target="/ppt/media/image.png" Id="R5ab1f907137a45da" /><Relationship Type="http://schemas.openxmlformats.org/officeDocument/2006/relationships/image" Target="/ppt/media/image2.png" Id="R7dde17e94066485d" /><Relationship Type="http://schemas.openxmlformats.org/officeDocument/2006/relationships/image" Target="/ppt/media/image3.png" Id="R1424baa7978a486a" /><Relationship Type="http://schemas.openxmlformats.org/officeDocument/2006/relationships/notesSlide" Target="/ppt/notesSlides/notesSlide10.xml" Id="R897f0182e0e745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9a0102747845bb" /><Relationship Type="http://schemas.openxmlformats.org/officeDocument/2006/relationships/image" Target="/ppt/media/image4.png" Id="R81baf63063b84f2b" /><Relationship Type="http://schemas.openxmlformats.org/officeDocument/2006/relationships/notesSlide" Target="/ppt/notesSlides/notesSlide11.xml" Id="R05df055c95a541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8c4a12d9364db3" /><Relationship Type="http://schemas.openxmlformats.org/officeDocument/2006/relationships/image" Target="/ppt/media/image5.png" Id="R73eaf28e462c4881" /><Relationship Type="http://schemas.openxmlformats.org/officeDocument/2006/relationships/notesSlide" Target="/ppt/notesSlides/notesSlide12.xml" Id="R152cc2008d7b46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0590db6c214c54" /><Relationship Type="http://schemas.openxmlformats.org/officeDocument/2006/relationships/image" Target="/ppt/media/image6.png" Id="R6df8e06329fd4a3e" /><Relationship Type="http://schemas.openxmlformats.org/officeDocument/2006/relationships/notesSlide" Target="/ppt/notesSlides/notesSlide13.xml" Id="R7361ca6ec4f445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6e4e302c7b4a3e" /><Relationship Type="http://schemas.openxmlformats.org/officeDocument/2006/relationships/chart" Target="/ppt/slides/charts/chart1.xml" Id="R0051a9409f6a4d1f" /><Relationship Type="http://schemas.openxmlformats.org/officeDocument/2006/relationships/notesSlide" Target="/ppt/notesSlides/notesSlide14.xml" Id="Re04f66fff85445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928424a5784aef" /><Relationship Type="http://schemas.openxmlformats.org/officeDocument/2006/relationships/chart" Target="/ppt/slides/charts/chart2.xml" Id="R5d3b4596ce9c4e2b" /><Relationship Type="http://schemas.openxmlformats.org/officeDocument/2006/relationships/notesSlide" Target="/ppt/notesSlides/notesSlide15.xml" Id="R3972e48df8c94e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b71a2996294cdb" /><Relationship Type="http://schemas.openxmlformats.org/officeDocument/2006/relationships/notesSlide" Target="/ppt/notesSlides/notesSlide16.xml" Id="Re055496ed80446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0fbba5b029440c" /><Relationship Type="http://schemas.openxmlformats.org/officeDocument/2006/relationships/notesSlide" Target="/ppt/notesSlides/notesSlide17.xml" Id="Ra2f0390c7f8f47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549489ae5e345fb" /><Relationship Type="http://schemas.openxmlformats.org/officeDocument/2006/relationships/chart" Target="/ppt/slides/charts/chart3.xml" Id="R979d82fd63e44f3f" /><Relationship Type="http://schemas.openxmlformats.org/officeDocument/2006/relationships/notesSlide" Target="/ppt/notesSlides/notesSlide18.xml" Id="R8346a92f957f4d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44ad14275124f24" /><Relationship Type="http://schemas.openxmlformats.org/officeDocument/2006/relationships/notesSlide" Target="/ppt/notesSlides/notesSlide19.xml" Id="R0bb4f2492ceb48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e768eaa42645e2" /><Relationship Type="http://schemas.openxmlformats.org/officeDocument/2006/relationships/notesSlide" Target="/ppt/notesSlides/notesSlide20.xml" Id="Re789909355c543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20512464df465f" /><Relationship Type="http://schemas.openxmlformats.org/officeDocument/2006/relationships/notesSlide" Target="/ppt/notesSlides/notesSlide21.xml" Id="R5eea5c97906f44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9866188c9a44508" /><Relationship Type="http://schemas.openxmlformats.org/officeDocument/2006/relationships/notesSlide" Target="/ppt/notesSlides/notesSlide22.xml" Id="Ra973bc039a474a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Sarvam-30B</c:v>
          </c:tx>
          <c:spPr>
            <a:solidFill xmlns:a="http://schemas.openxmlformats.org/drawingml/2006/main">
              <a:srgbClr val="0F62FE"/>
            </a:solidFill>
          </c:spPr>
          <c:cat>
            <c:strRef>
              <c:f>'Chart Data'!$A$2:$A$6</c:f>
              <c:strCache>
                <c:ptCount val="5"/>
                <c:pt idx="0">
                  <c:v>P1</c:v>
                </c:pt>
                <c:pt idx="1">
                  <c:v>P2</c:v>
                </c:pt>
                <c:pt idx="2">
                  <c:v>P3</c:v>
                </c:pt>
                <c:pt idx="3">
                  <c:v>P4</c:v>
                </c:pt>
                <c:pt idx="4">
                  <c:v>P5</c:v>
                </c:pt>
              </c:strCache>
            </c:strRef>
          </c:cat>
          <c:val>
            <c:numRef>
              <c:f>'Chart Data'!$B$2:$B$6</c:f>
              <c:numCache>
                <c:formatCode>0.0"%"</c:formatCode>
                <c:ptCount val="5"/>
                <c:pt idx="0">
                  <c:v>95</c:v>
                </c:pt>
                <c:pt idx="1">
                  <c:v>91.3</c:v>
                </c:pt>
                <c:pt idx="2">
                  <c:v>0.7</c:v>
                </c:pt>
                <c:pt idx="3">
                  <c:v>0.9</c:v>
                </c:pt>
                <c:pt idx="4">
                  <c:v>95.1</c:v>
                </c:pt>
              </c:numCache>
            </c:numRef>
          </c:val>
        </c:ser>
        <c:ser>
          <c:idx val="1"/>
          <c:order val="1"/>
          <c:tx>
            <c:v>Qwen3-14B</c:v>
          </c:tx>
          <c:spPr>
            <a:solidFill xmlns:a="http://schemas.openxmlformats.org/drawingml/2006/main">
              <a:srgbClr val="008575"/>
            </a:solidFill>
          </c:spPr>
          <c:cat>
            <c:strRef>
              <c:f>'Chart Data'!$C$2:$C$6</c:f>
              <c:strCache>
                <c:ptCount val="5"/>
                <c:pt idx="0">
                  <c:v>P1</c:v>
                </c:pt>
                <c:pt idx="1">
                  <c:v>P2</c:v>
                </c:pt>
                <c:pt idx="2">
                  <c:v>P3</c:v>
                </c:pt>
                <c:pt idx="3">
                  <c:v>P4</c:v>
                </c:pt>
                <c:pt idx="4">
                  <c:v>P5</c:v>
                </c:pt>
              </c:strCache>
            </c:strRef>
          </c:cat>
          <c:val>
            <c:numRef>
              <c:f>'Chart Data'!$D$2:$D$6</c:f>
              <c:numCache>
                <c:formatCode>0.0"%"</c:formatCode>
                <c:ptCount val="5"/>
                <c:pt idx="0">
                  <c:v>95</c:v>
                </c:pt>
                <c:pt idx="1">
                  <c:v>91.2</c:v>
                </c:pt>
                <c:pt idx="2">
                  <c:v>0.8</c:v>
                </c:pt>
                <c:pt idx="3">
                  <c:v>0.1</c:v>
                </c:pt>
                <c:pt idx="4">
                  <c:v>95.5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3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650">
                <a:solidFill>
                  <a:srgbClr val="142335"/>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D7DFE9"/>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77"/>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335"/>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Sarvam-30B</c:v>
          </c:tx>
          <c:spPr>
            <a:solidFill xmlns:a="http://schemas.openxmlformats.org/drawingml/2006/main">
              <a:srgbClr val="0F62FE"/>
            </a:solidFill>
          </c:spPr>
          <c:cat>
            <c:strRef>
              <c:f>'Chart Data'!$A$2:$A$6</c:f>
              <c:strCache>
                <c:ptCount val="5"/>
                <c:pt idx="0">
                  <c:v>P1</c:v>
                </c:pt>
                <c:pt idx="1">
                  <c:v>P2</c:v>
                </c:pt>
                <c:pt idx="2">
                  <c:v>P3</c:v>
                </c:pt>
                <c:pt idx="3">
                  <c:v>P4</c:v>
                </c:pt>
                <c:pt idx="4">
                  <c:v>P5</c:v>
                </c:pt>
              </c:strCache>
            </c:strRef>
          </c:cat>
          <c:val>
            <c:numRef>
              <c:f>'Chart Data'!$B$2:$B$6</c:f>
              <c:numCache>
                <c:formatCode>0.00</c:formatCode>
                <c:ptCount val="5"/>
                <c:pt idx="0">
                  <c:v>4.02</c:v>
                </c:pt>
                <c:pt idx="1">
                  <c:v>2.44</c:v>
                </c:pt>
                <c:pt idx="2">
                  <c:v>3.06</c:v>
                </c:pt>
                <c:pt idx="3">
                  <c:v>1.77</c:v>
                </c:pt>
                <c:pt idx="4">
                  <c:v>3.87</c:v>
                </c:pt>
              </c:numCache>
            </c:numRef>
          </c:val>
        </c:ser>
        <c:ser>
          <c:idx val="1"/>
          <c:order val="1"/>
          <c:tx>
            <c:v>Qwen3-14B</c:v>
          </c:tx>
          <c:spPr>
            <a:solidFill xmlns:a="http://schemas.openxmlformats.org/drawingml/2006/main">
              <a:srgbClr val="008575"/>
            </a:solidFill>
          </c:spPr>
          <c:cat>
            <c:strRef>
              <c:f>'Chart Data'!$C$2:$C$6</c:f>
              <c:strCache>
                <c:ptCount val="5"/>
                <c:pt idx="0">
                  <c:v>P1</c:v>
                </c:pt>
                <c:pt idx="1">
                  <c:v>P2</c:v>
                </c:pt>
                <c:pt idx="2">
                  <c:v>P3</c:v>
                </c:pt>
                <c:pt idx="3">
                  <c:v>P4</c:v>
                </c:pt>
                <c:pt idx="4">
                  <c:v>P5</c:v>
                </c:pt>
              </c:strCache>
            </c:strRef>
          </c:cat>
          <c:val>
            <c:numRef>
              <c:f>'Chart Data'!$D$2:$D$6</c:f>
              <c:numCache>
                <c:formatCode>0.00</c:formatCode>
                <c:ptCount val="5"/>
                <c:pt idx="0">
                  <c:v>4.9</c:v>
                </c:pt>
                <c:pt idx="1">
                  <c:v>3.31</c:v>
                </c:pt>
                <c:pt idx="2">
                  <c:v>3.76</c:v>
                </c:pt>
                <c:pt idx="3">
                  <c:v>1.69</c:v>
                </c:pt>
                <c:pt idx="4">
                  <c:v>4.53</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3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650">
                <a:solidFill>
                  <a:srgbClr val="142335"/>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D7DF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77"/>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335"/>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Rated compliant</c:v>
          </c:tx>
          <c:spPr>
            <a:solidFill xmlns:a="http://schemas.openxmlformats.org/drawingml/2006/main">
              <a:srgbClr val="0F62FE"/>
            </a:solidFill>
          </c:spPr>
          <c:cat>
            <c:strRef>
              <c:f>'Chart Data'!$A$2:$A$4</c:f>
              <c:strCache>
                <c:ptCount val="3"/>
                <c:pt idx="0">
                  <c:v>Sarvam-30B</c:v>
                </c:pt>
                <c:pt idx="1">
                  <c:v>Qwen3-14B</c:v>
                </c:pt>
                <c:pt idx="2">
                  <c:v>Ministral 3 8B</c:v>
                </c:pt>
              </c:strCache>
            </c:strRef>
          </c:cat>
          <c:val>
            <c:numRef>
              <c:f>'Chart Data'!$B$2:$B$4</c:f>
              <c:numCache>
                <c:formatCode>0"%"</c:formatCode>
                <c:ptCount val="3"/>
                <c:pt idx="0">
                  <c:v>82</c:v>
                </c:pt>
                <c:pt idx="1">
                  <c:v>90</c:v>
                </c:pt>
                <c:pt idx="2">
                  <c:v>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423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650">
                <a:solidFill>
                  <a:srgbClr val="142335"/>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D7DFE9"/>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77"/>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8E8D10-BA41-4273-B8DE-2A4C211575DF}"/>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RESEARCH PRESENTATION FOR IBM</a:t>
            </a:r>
          </a:p>
        </p:txBody>
      </p:sp>
      <p:sp>
        <p:nvSpPr>
          <p:cNvPr id="2" name="">
            <a:extLst xmlns:a="http://schemas.openxmlformats.org/drawingml/2006/main">
              <a:ext uri="{FF2B5EF4-FFF2-40B4-BE49-F238E27FC236}">
                <a16:creationId xmlns:a16="http://schemas.microsoft.com/office/drawing/2014/main" id="{55FF5DF4-FD68-458B-B96F-A59BECA444A7}"/>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IndicJudge</a:t>
            </a:r>
          </a:p>
        </p:txBody>
      </p:sp>
      <p:sp>
        <p:nvSpPr>
          <p:cNvPr id="3" name="">
            <a:extLst xmlns:a="http://schemas.openxmlformats.org/drawingml/2006/main">
              <a:ext uri="{FF2B5EF4-FFF2-40B4-BE49-F238E27FC236}">
                <a16:creationId xmlns:a16="http://schemas.microsoft.com/office/drawing/2014/main" id="{71492A20-7A44-490E-AB9A-7F5AB4A57931}"/>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2B321A03-2C3F-4C5B-95B4-602F81EDA466}"/>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DA6EAAE2-1B4A-4B5C-AB05-A8817E9E063A}"/>
              </a:ext>
            </a:extLst>
          </p:cNvPr>
          <p:cNvSpPr>
            <a:spLocks xmlns:a="http://schemas.openxmlformats.org/drawingml/2006/main" noGrp="1"/>
          </p:cNvSpPr>
          <p:nvPr/>
        </p:nvSpPr>
        <p:spPr>
          <a:xfrm xmlns:a="http://schemas.openxmlformats.org/drawingml/2006/main">
            <a:off x="609600" y="20764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142335"/>
                </a:solidFill>
                <a:latin typeface="Helvetica Neue"/>
                <a:ea typeface="Helvetica Neue"/>
                <a:cs typeface="Helvetica Neue"/>
              </a:defRPr>
            </a:pPr>
            <a:r>
              <a:rPr sz="4650" b="1">
                <a:solidFill>
                  <a:srgbClr val="142335"/>
                </a:solidFill>
                <a:latin typeface="Helvetica Neue"/>
                <a:ea typeface="Helvetica Neue"/>
                <a:cs typeface="Helvetica Neue"/>
              </a:rPr>
              <a:t>Evaluating multilingual</a:t>
            </a:r>
          </a:p>
          <a:p xmlns:a="http://schemas.openxmlformats.org/drawingml/2006/main">
            <a:pPr>
              <a:defRPr sz="4650" b="1">
                <a:solidFill>
                  <a:srgbClr val="142335"/>
                </a:solidFill>
                <a:latin typeface="Helvetica Neue"/>
                <a:ea typeface="Helvetica Neue"/>
                <a:cs typeface="Helvetica Neue"/>
              </a:defRPr>
            </a:pPr>
            <a:r>
              <a:rPr sz="4650" b="1">
                <a:solidFill>
                  <a:srgbClr val="142335"/>
                </a:solidFill>
                <a:latin typeface="Helvetica Neue"/>
                <a:ea typeface="Helvetica Neue"/>
                <a:cs typeface="Helvetica Neue"/>
              </a:rPr>
              <a:t>mathematical responses</a:t>
            </a:r>
          </a:p>
        </p:txBody>
      </p:sp>
      <p:sp>
        <p:nvSpPr>
          <p:cNvPr id="6" name="">
            <a:extLst xmlns:a="http://schemas.openxmlformats.org/drawingml/2006/main">
              <a:ext uri="{FF2B5EF4-FFF2-40B4-BE49-F238E27FC236}">
                <a16:creationId xmlns:a16="http://schemas.microsoft.com/office/drawing/2014/main" id="{9E1A5AD5-A200-4BB7-B05A-11F2059EBD49}"/>
              </a:ext>
            </a:extLst>
          </p:cNvPr>
          <p:cNvSpPr>
            <a:spLocks xmlns:a="http://schemas.openxmlformats.org/drawingml/2006/main" noGrp="1"/>
          </p:cNvSpPr>
          <p:nvPr/>
        </p:nvSpPr>
        <p:spPr>
          <a:xfrm xmlns:a="http://schemas.openxmlformats.org/drawingml/2006/main">
            <a:off x="609600" y="42100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526377"/>
                </a:solidFill>
                <a:latin typeface="Helvetica Neue"/>
                <a:ea typeface="Helvetica Neue"/>
                <a:cs typeface="Helvetica Neue"/>
              </a:defRPr>
            </a:pPr>
            <a:r>
              <a:rPr sz="2325" b="0">
                <a:solidFill>
                  <a:srgbClr val="526377"/>
                </a:solidFill>
                <a:latin typeface="Helvetica Neue"/>
                <a:ea typeface="Helvetica Neue"/>
                <a:cs typeface="Helvetica Neue"/>
              </a:rPr>
              <a:t>Separating answer correctness, reasoning quality</a:t>
            </a:r>
          </a:p>
          <a:p xmlns:a="http://schemas.openxmlformats.org/drawingml/2006/main">
            <a:pPr>
              <a:defRPr sz="2325" b="0">
                <a:solidFill>
                  <a:srgbClr val="526377"/>
                </a:solidFill>
                <a:latin typeface="Helvetica Neue"/>
                <a:ea typeface="Helvetica Neue"/>
                <a:cs typeface="Helvetica Neue"/>
              </a:defRPr>
            </a:pPr>
            <a:r>
              <a:rPr sz="2325" b="0">
                <a:solidFill>
                  <a:srgbClr val="526377"/>
                </a:solidFill>
                <a:latin typeface="Helvetica Neue"/>
                <a:ea typeface="Helvetica Neue"/>
                <a:cs typeface="Helvetica Neue"/>
              </a:rPr>
              <a:t>and instruction compliance with LLM judges</a:t>
            </a:r>
          </a:p>
        </p:txBody>
      </p:sp>
      <p:sp>
        <p:nvSpPr>
          <p:cNvPr id="7" name="">
            <a:extLst xmlns:a="http://schemas.openxmlformats.org/drawingml/2006/main">
              <a:ext uri="{FF2B5EF4-FFF2-40B4-BE49-F238E27FC236}">
                <a16:creationId xmlns:a16="http://schemas.microsoft.com/office/drawing/2014/main" id="{3BF7CC05-24BF-4E3F-B2EE-DE0BE936FF22}"/>
              </a:ext>
            </a:extLst>
          </p:cNvPr>
          <p:cNvSpPr>
            <a:spLocks xmlns:a="http://schemas.openxmlformats.org/drawingml/2006/main" noGrp="1"/>
          </p:cNvSpPr>
          <p:nvPr/>
        </p:nvSpPr>
        <p:spPr>
          <a:xfrm xmlns:a="http://schemas.openxmlformats.org/drawingml/2006/main">
            <a:off x="609600" y="5667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F62FE"/>
                </a:solidFill>
                <a:latin typeface="Helvetica Neue"/>
                <a:ea typeface="Helvetica Neue"/>
                <a:cs typeface="Helvetica Neue"/>
              </a:defRPr>
            </a:pPr>
            <a:r>
              <a:rPr sz="1875" b="0">
                <a:solidFill>
                  <a:srgbClr val="0F62FE"/>
                </a:solidFill>
                <a:latin typeface="Helvetica Neue"/>
                <a:ea typeface="Helvetica Neue"/>
                <a:cs typeface="Helvetica Neue"/>
              </a:rPr>
              <a:t>10 Indian languages     5,000 candidate responses     3 judges</a:t>
            </a:r>
          </a:p>
        </p:txBody>
      </p:sp>
    </p:spTree>
    <p:extLst>
      <p:ext uri="{BB962C8B-B14F-4D97-AF65-F5344CB8AC3E}">
        <p14:creationId xmlns:p14="http://schemas.microsoft.com/office/powerpoint/2010/main" val="15288420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ED0683-5C6E-4B61-A909-51BF73BCEB72}"/>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FINDINGS</a:t>
            </a:r>
          </a:p>
        </p:txBody>
      </p:sp>
      <p:sp>
        <p:nvSpPr>
          <p:cNvPr id="2" name="">
            <a:extLst xmlns:a="http://schemas.openxmlformats.org/drawingml/2006/main">
              <a:ext uri="{FF2B5EF4-FFF2-40B4-BE49-F238E27FC236}">
                <a16:creationId xmlns:a16="http://schemas.microsoft.com/office/drawing/2014/main" id="{FF0B5CBD-4591-4B33-946D-90EB783E45F7}"/>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Judges agree less on reasoning quality</a:t>
            </a:r>
          </a:p>
        </p:txBody>
      </p:sp>
      <p:sp>
        <p:nvSpPr>
          <p:cNvPr id="3" name="">
            <a:extLst xmlns:a="http://schemas.openxmlformats.org/drawingml/2006/main">
              <a:ext uri="{FF2B5EF4-FFF2-40B4-BE49-F238E27FC236}">
                <a16:creationId xmlns:a16="http://schemas.microsoft.com/office/drawing/2014/main" id="{7FADD815-034D-4D48-B5A7-7567ADA9B667}"/>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4492E6FC-D0D2-4191-9059-672A8D6F3425}"/>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B574066-DAC4-4A6E-B465-D156DB85ACA2}"/>
              </a:ext>
            </a:extLst>
          </p:cNvPr>
          <p:cNvSpPr>
            <a:spLocks xmlns:a="http://schemas.openxmlformats.org/drawingml/2006/main" noGrp="1"/>
          </p:cNvSpPr>
          <p:nvPr/>
        </p:nvSpPr>
        <p:spPr>
          <a:xfrm xmlns:a="http://schemas.openxmlformats.org/drawingml/2006/main">
            <a:off x="609600" y="19621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98.0% agreement</a:t>
            </a:r>
          </a:p>
        </p:txBody>
      </p:sp>
      <p:sp>
        <p:nvSpPr>
          <p:cNvPr id="6" name="">
            <a:extLst xmlns:a="http://schemas.openxmlformats.org/drawingml/2006/main">
              <a:ext uri="{FF2B5EF4-FFF2-40B4-BE49-F238E27FC236}">
                <a16:creationId xmlns:a16="http://schemas.microsoft.com/office/drawing/2014/main" id="{3FEC5330-7968-4320-B909-807FCCEFA39E}"/>
              </a:ext>
            </a:extLst>
          </p:cNvPr>
          <p:cNvSpPr>
            <a:spLocks xmlns:a="http://schemas.openxmlformats.org/drawingml/2006/main" noGrp="1"/>
          </p:cNvSpPr>
          <p:nvPr/>
        </p:nvSpPr>
        <p:spPr>
          <a:xfrm xmlns:a="http://schemas.openxmlformats.org/drawingml/2006/main">
            <a:off x="3829050" y="1962150"/>
            <a:ext cx="771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Sarvam and Qwen usually agree on whether the visible final answer is correct.</a:t>
            </a:r>
          </a:p>
        </p:txBody>
      </p:sp>
      <p:sp>
        <p:nvSpPr>
          <p:cNvPr id="7" name="">
            <a:extLst xmlns:a="http://schemas.openxmlformats.org/drawingml/2006/main">
              <a:ext uri="{FF2B5EF4-FFF2-40B4-BE49-F238E27FC236}">
                <a16:creationId xmlns:a16="http://schemas.microsoft.com/office/drawing/2014/main" id="{609A67AE-4B9E-401A-9ABA-70863B3B8361}"/>
              </a:ext>
            </a:extLst>
          </p:cNvPr>
          <p:cNvSpPr>
            <a:spLocks xmlns:a="http://schemas.openxmlformats.org/drawingml/2006/main" noGrp="1"/>
          </p:cNvSpPr>
          <p:nvPr/>
        </p:nvSpPr>
        <p:spPr>
          <a:xfrm xmlns:a="http://schemas.openxmlformats.org/drawingml/2006/main">
            <a:off x="609600" y="312420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29.3% exact match</a:t>
            </a:r>
          </a:p>
        </p:txBody>
      </p:sp>
      <p:sp>
        <p:nvSpPr>
          <p:cNvPr id="8" name="">
            <a:extLst xmlns:a="http://schemas.openxmlformats.org/drawingml/2006/main">
              <a:ext uri="{FF2B5EF4-FFF2-40B4-BE49-F238E27FC236}">
                <a16:creationId xmlns:a16="http://schemas.microsoft.com/office/drawing/2014/main" id="{438DE7D2-5B9F-44AA-AFBF-11A38349E432}"/>
              </a:ext>
            </a:extLst>
          </p:cNvPr>
          <p:cNvSpPr>
            <a:spLocks xmlns:a="http://schemas.openxmlformats.org/drawingml/2006/main" noGrp="1"/>
          </p:cNvSpPr>
          <p:nvPr/>
        </p:nvSpPr>
        <p:spPr>
          <a:xfrm xmlns:a="http://schemas.openxmlformats.org/drawingml/2006/main">
            <a:off x="3829050" y="3124200"/>
            <a:ext cx="771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Their reasoning scores match exactly in fewer than one-third of 5,000 judgments.</a:t>
            </a:r>
          </a:p>
        </p:txBody>
      </p:sp>
      <p:sp>
        <p:nvSpPr>
          <p:cNvPr id="9" name="">
            <a:extLst xmlns:a="http://schemas.openxmlformats.org/drawingml/2006/main">
              <a:ext uri="{FF2B5EF4-FFF2-40B4-BE49-F238E27FC236}">
                <a16:creationId xmlns:a16="http://schemas.microsoft.com/office/drawing/2014/main" id="{60170459-03A2-48D3-894D-EA4C1AF76916}"/>
              </a:ext>
            </a:extLst>
          </p:cNvPr>
          <p:cNvSpPr>
            <a:spLocks xmlns:a="http://schemas.openxmlformats.org/drawingml/2006/main" noGrp="1"/>
          </p:cNvSpPr>
          <p:nvPr/>
        </p:nvSpPr>
        <p:spPr>
          <a:xfrm xmlns:a="http://schemas.openxmlformats.org/drawingml/2006/main">
            <a:off x="609600" y="4286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Human validation next</a:t>
            </a:r>
          </a:p>
        </p:txBody>
      </p:sp>
      <p:sp>
        <p:nvSpPr>
          <p:cNvPr id="10" name="">
            <a:extLst xmlns:a="http://schemas.openxmlformats.org/drawingml/2006/main">
              <a:ext uri="{FF2B5EF4-FFF2-40B4-BE49-F238E27FC236}">
                <a16:creationId xmlns:a16="http://schemas.microsoft.com/office/drawing/2014/main" id="{19BD72FA-D3F2-4DFA-9501-2139B0F84D50}"/>
              </a:ext>
            </a:extLst>
          </p:cNvPr>
          <p:cNvSpPr>
            <a:spLocks xmlns:a="http://schemas.openxmlformats.org/drawingml/2006/main" noGrp="1"/>
          </p:cNvSpPr>
          <p:nvPr/>
        </p:nvSpPr>
        <p:spPr>
          <a:xfrm xmlns:a="http://schemas.openxmlformats.org/drawingml/2006/main">
            <a:off x="3829050" y="4286250"/>
            <a:ext cx="771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All three planned judge runs are saved. The local reviewer sheets contain no completed ratings.</a:t>
            </a:r>
          </a:p>
        </p:txBody>
      </p:sp>
      <p:sp>
        <p:nvSpPr>
          <p:cNvPr id="11" name="">
            <a:extLst xmlns:a="http://schemas.openxmlformats.org/drawingml/2006/main">
              <a:ext uri="{FF2B5EF4-FFF2-40B4-BE49-F238E27FC236}">
                <a16:creationId xmlns:a16="http://schemas.microsoft.com/office/drawing/2014/main" id="{D491D279-453A-4AF6-8644-970A6EA3328D}"/>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The current evidence establishes consistency differences, not which judge is right.</a:t>
            </a:r>
          </a:p>
        </p:txBody>
      </p:sp>
    </p:spTree>
    <p:extLst>
      <p:ext uri="{BB962C8B-B14F-4D97-AF65-F5344CB8AC3E}">
        <p14:creationId xmlns:p14="http://schemas.microsoft.com/office/powerpoint/2010/main" val="263224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D25076-89A8-4C15-8680-0897893484F6}"/>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EXPERIMENT DESIGN</a:t>
            </a:r>
          </a:p>
        </p:txBody>
      </p:sp>
      <p:sp>
        <p:nvSpPr>
          <p:cNvPr id="2" name="">
            <a:extLst xmlns:a="http://schemas.openxmlformats.org/drawingml/2006/main">
              <a:ext uri="{FF2B5EF4-FFF2-40B4-BE49-F238E27FC236}">
                <a16:creationId xmlns:a16="http://schemas.microsoft.com/office/drawing/2014/main" id="{2EBA72BC-BE04-477C-8AB3-9407FE94778C}"/>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A balanced response set across ten languages</a:t>
            </a:r>
          </a:p>
        </p:txBody>
      </p:sp>
      <p:sp>
        <p:nvSpPr>
          <p:cNvPr id="3" name="">
            <a:extLst xmlns:a="http://schemas.openxmlformats.org/drawingml/2006/main">
              <a:ext uri="{FF2B5EF4-FFF2-40B4-BE49-F238E27FC236}">
                <a16:creationId xmlns:a16="http://schemas.microsoft.com/office/drawing/2014/main" id="{6252A8B6-5D06-4787-96D2-4336C0359340}"/>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5B53589D-5BA6-41C5-B960-8FB95AE2BB4F}"/>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38E93B8-395F-4595-9EFB-D97B9D93119E}"/>
              </a:ext>
            </a:extLst>
          </p:cNvPr>
          <p:cNvSpPr>
            <a:spLocks xmlns:a="http://schemas.openxmlformats.org/drawingml/2006/main" noGrp="1"/>
          </p:cNvSpPr>
          <p:nvPr/>
        </p:nvSpPr>
        <p:spPr>
          <a:xfrm xmlns:a="http://schemas.openxmlformats.org/drawingml/2006/main">
            <a:off x="609600" y="1885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F62FE"/>
                </a:solidFill>
                <a:latin typeface="Helvetica Neue"/>
                <a:ea typeface="Helvetica Neue"/>
                <a:cs typeface="Helvetica Neue"/>
              </a:defRPr>
            </a:pPr>
            <a:r>
              <a:rPr sz="2250" b="1">
                <a:solidFill>
                  <a:srgbClr val="0F62FE"/>
                </a:solidFill>
                <a:latin typeface="Helvetica Neue"/>
                <a:ea typeface="Helvetica Neue"/>
                <a:cs typeface="Helvetica Neue"/>
              </a:rPr>
              <a:t>50 questions × 10 languages × 2 candidate models × 5 prompts</a:t>
            </a:r>
          </a:p>
        </p:txBody>
      </p:sp>
      <p:sp>
        <p:nvSpPr>
          <p:cNvPr id="6" name="">
            <a:extLst xmlns:a="http://schemas.openxmlformats.org/drawingml/2006/main">
              <a:ext uri="{FF2B5EF4-FFF2-40B4-BE49-F238E27FC236}">
                <a16:creationId xmlns:a16="http://schemas.microsoft.com/office/drawing/2014/main" id="{1798C3AE-D616-4307-9AB9-DBAB4DF14E29}"/>
              </a:ext>
            </a:extLst>
          </p:cNvPr>
          <p:cNvSpPr>
            <a:spLocks xmlns:a="http://schemas.openxmlformats.org/drawingml/2006/main" noGrp="1"/>
          </p:cNvSpPr>
          <p:nvPr/>
        </p:nvSpPr>
        <p:spPr>
          <a:xfrm xmlns:a="http://schemas.openxmlformats.org/drawingml/2006/main">
            <a:off x="609600" y="2876550"/>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150" b="1">
                <a:solidFill>
                  <a:srgbClr val="142335"/>
                </a:solidFill>
                <a:latin typeface="Helvetica Neue"/>
                <a:ea typeface="Helvetica Neue"/>
                <a:cs typeface="Helvetica Neue"/>
              </a:defRPr>
            </a:pPr>
            <a:r>
              <a:rPr sz="6150" b="1">
                <a:solidFill>
                  <a:srgbClr val="142335"/>
                </a:solidFill>
                <a:latin typeface="Helvetica Neue"/>
                <a:ea typeface="Helvetica Neue"/>
                <a:cs typeface="Helvetica Neue"/>
              </a:rPr>
              <a:t>5,000</a:t>
            </a:r>
          </a:p>
        </p:txBody>
      </p:sp>
      <p:sp>
        <p:nvSpPr>
          <p:cNvPr id="7" name="">
            <a:extLst xmlns:a="http://schemas.openxmlformats.org/drawingml/2006/main">
              <a:ext uri="{FF2B5EF4-FFF2-40B4-BE49-F238E27FC236}">
                <a16:creationId xmlns:a16="http://schemas.microsoft.com/office/drawing/2014/main" id="{428F35DF-132B-4E4A-ACFA-169B7DC2673B}"/>
              </a:ext>
            </a:extLst>
          </p:cNvPr>
          <p:cNvSpPr>
            <a:spLocks xmlns:a="http://schemas.openxmlformats.org/drawingml/2006/main" noGrp="1"/>
          </p:cNvSpPr>
          <p:nvPr/>
        </p:nvSpPr>
        <p:spPr>
          <a:xfrm xmlns:a="http://schemas.openxmlformats.org/drawingml/2006/main">
            <a:off x="609600" y="38957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26377"/>
                </a:solidFill>
                <a:latin typeface="Helvetica Neue"/>
                <a:ea typeface="Helvetica Neue"/>
                <a:cs typeface="Helvetica Neue"/>
              </a:defRPr>
            </a:pPr>
            <a:r>
              <a:rPr sz="2025" b="0">
                <a:solidFill>
                  <a:srgbClr val="526377"/>
                </a:solidFill>
                <a:latin typeface="Helvetica Neue"/>
                <a:ea typeface="Helvetica Neue"/>
                <a:cs typeface="Helvetica Neue"/>
              </a:rPr>
              <a:t>candidate responses</a:t>
            </a:r>
          </a:p>
        </p:txBody>
      </p:sp>
      <p:sp>
        <p:nvSpPr>
          <p:cNvPr id="8" name="">
            <a:extLst xmlns:a="http://schemas.openxmlformats.org/drawingml/2006/main">
              <a:ext uri="{FF2B5EF4-FFF2-40B4-BE49-F238E27FC236}">
                <a16:creationId xmlns:a16="http://schemas.microsoft.com/office/drawing/2014/main" id="{457F6D57-F10F-4FCE-A5F9-2F8F29023883}"/>
              </a:ext>
            </a:extLst>
          </p:cNvPr>
          <p:cNvSpPr>
            <a:spLocks xmlns:a="http://schemas.openxmlformats.org/drawingml/2006/main" noGrp="1"/>
          </p:cNvSpPr>
          <p:nvPr/>
        </p:nvSpPr>
        <p:spPr>
          <a:xfrm xmlns:a="http://schemas.openxmlformats.org/drawingml/2006/main">
            <a:off x="4819650" y="28575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F62FE"/>
                </a:solidFill>
                <a:latin typeface="Helvetica Neue"/>
                <a:ea typeface="Helvetica Neue"/>
                <a:cs typeface="Helvetica Neue"/>
              </a:defRPr>
            </a:pPr>
            <a:r>
              <a:rPr sz="2100" b="1">
                <a:solidFill>
                  <a:srgbClr val="0F62FE"/>
                </a:solidFill>
                <a:latin typeface="Helvetica Neue"/>
                <a:ea typeface="Helvetica Neue"/>
                <a:cs typeface="Helvetica Neue"/>
              </a:rPr>
              <a:t>GSM experiment folders</a:t>
            </a:r>
          </a:p>
        </p:txBody>
      </p:sp>
      <p:sp>
        <p:nvSpPr>
          <p:cNvPr id="9" name="">
            <a:extLst xmlns:a="http://schemas.openxmlformats.org/drawingml/2006/main">
              <a:ext uri="{FF2B5EF4-FFF2-40B4-BE49-F238E27FC236}">
                <a16:creationId xmlns:a16="http://schemas.microsoft.com/office/drawing/2014/main" id="{1A259135-035F-471F-847D-08D71E516E31}"/>
              </a:ext>
            </a:extLst>
          </p:cNvPr>
          <p:cNvSpPr>
            <a:spLocks xmlns:a="http://schemas.openxmlformats.org/drawingml/2006/main" noGrp="1"/>
          </p:cNvSpPr>
          <p:nvPr/>
        </p:nvSpPr>
        <p:spPr>
          <a:xfrm xmlns:a="http://schemas.openxmlformats.org/drawingml/2006/main">
            <a:off x="4819650" y="3324225"/>
            <a:ext cx="6715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Gujarati, Hindi, Kannada, Malayalam,</a:t>
            </a:r>
          </a:p>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Marathi, Odia, Punjabi, Tamil</a:t>
            </a:r>
          </a:p>
        </p:txBody>
      </p:sp>
      <p:sp>
        <p:nvSpPr>
          <p:cNvPr id="10" name="">
            <a:extLst xmlns:a="http://schemas.openxmlformats.org/drawingml/2006/main">
              <a:ext uri="{FF2B5EF4-FFF2-40B4-BE49-F238E27FC236}">
                <a16:creationId xmlns:a16="http://schemas.microsoft.com/office/drawing/2014/main" id="{69349517-FD8E-4B05-A83D-D2B4DA4F9A69}"/>
              </a:ext>
            </a:extLst>
          </p:cNvPr>
          <p:cNvSpPr>
            <a:spLocks xmlns:a="http://schemas.openxmlformats.org/drawingml/2006/main" noGrp="1"/>
          </p:cNvSpPr>
          <p:nvPr/>
        </p:nvSpPr>
        <p:spPr>
          <a:xfrm xmlns:a="http://schemas.openxmlformats.org/drawingml/2006/main">
            <a:off x="4819650" y="43910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F62FE"/>
                </a:solidFill>
                <a:latin typeface="Helvetica Neue"/>
                <a:ea typeface="Helvetica Neue"/>
                <a:cs typeface="Helvetica Neue"/>
              </a:defRPr>
            </a:pPr>
            <a:r>
              <a:rPr sz="2100" b="1">
                <a:solidFill>
                  <a:srgbClr val="0F62FE"/>
                </a:solidFill>
                <a:latin typeface="Helvetica Neue"/>
                <a:ea typeface="Helvetica Neue"/>
                <a:cs typeface="Helvetica Neue"/>
              </a:rPr>
              <a:t>MGSM experiment folders</a:t>
            </a:r>
          </a:p>
        </p:txBody>
      </p:sp>
      <p:sp>
        <p:nvSpPr>
          <p:cNvPr id="11" name="">
            <a:extLst xmlns:a="http://schemas.openxmlformats.org/drawingml/2006/main">
              <a:ext uri="{FF2B5EF4-FFF2-40B4-BE49-F238E27FC236}">
                <a16:creationId xmlns:a16="http://schemas.microsoft.com/office/drawing/2014/main" id="{75E64FA8-6CB3-4876-A023-34EB93A4BCC2}"/>
              </a:ext>
            </a:extLst>
          </p:cNvPr>
          <p:cNvSpPr>
            <a:spLocks xmlns:a="http://schemas.openxmlformats.org/drawingml/2006/main" noGrp="1"/>
          </p:cNvSpPr>
          <p:nvPr/>
        </p:nvSpPr>
        <p:spPr>
          <a:xfrm xmlns:a="http://schemas.openxmlformats.org/drawingml/2006/main">
            <a:off x="4819650" y="4857750"/>
            <a:ext cx="671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Bengali and Telugu</a:t>
            </a:r>
          </a:p>
        </p:txBody>
      </p:sp>
      <p:sp>
        <p:nvSpPr>
          <p:cNvPr id="12" name="">
            <a:extLst xmlns:a="http://schemas.openxmlformats.org/drawingml/2006/main">
              <a:ext uri="{FF2B5EF4-FFF2-40B4-BE49-F238E27FC236}">
                <a16:creationId xmlns:a16="http://schemas.microsoft.com/office/drawing/2014/main" id="{19B8A155-A804-416F-B164-B036056D3A87}"/>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Candidate labels in the project: Gemma-4-26B and Gemma-4-31B.</a:t>
            </a:r>
          </a:p>
        </p:txBody>
      </p:sp>
    </p:spTree>
    <p:extLst>
      <p:ext uri="{BB962C8B-B14F-4D97-AF65-F5344CB8AC3E}">
        <p14:creationId xmlns:p14="http://schemas.microsoft.com/office/powerpoint/2010/main" val="4937383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38EB09-69F1-4C07-98CA-7E9D64BE474F}"/>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CONTROLLED GENERATION INTENTS</a:t>
            </a:r>
          </a:p>
        </p:txBody>
      </p:sp>
      <p:sp>
        <p:nvSpPr>
          <p:cNvPr id="2" name="">
            <a:extLst xmlns:a="http://schemas.openxmlformats.org/drawingml/2006/main">
              <a:ext uri="{FF2B5EF4-FFF2-40B4-BE49-F238E27FC236}">
                <a16:creationId xmlns:a16="http://schemas.microsoft.com/office/drawing/2014/main" id="{0CDEF1EA-ED28-4F1C-A10E-C0D215E40895}"/>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Five prompts separate answers from reasoning</a:t>
            </a:r>
          </a:p>
        </p:txBody>
      </p:sp>
      <p:sp>
        <p:nvSpPr>
          <p:cNvPr id="3" name="">
            <a:extLst xmlns:a="http://schemas.openxmlformats.org/drawingml/2006/main">
              <a:ext uri="{FF2B5EF4-FFF2-40B4-BE49-F238E27FC236}">
                <a16:creationId xmlns:a16="http://schemas.microsoft.com/office/drawing/2014/main" id="{A77EA710-441C-49CF-9772-3CA7EFF4B1D7}"/>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282853A1-E4E1-482C-82C2-44F07BF86DA0}"/>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09600" y="1905000"/>
          <a:ext xmlns:a="http://schemas.openxmlformats.org/drawingml/2006/main" cx="10972800" cy="3467100"/>
        </p:xfrm>
        <a:graphic xmlns:a="http://schemas.openxmlformats.org/drawingml/2006/main">
          <a:graphicData uri="http://schemas.openxmlformats.org/drawingml/2006/table">
            <a:tbl>
              <a:tblPr/>
              <a:tblGrid>
                <a:gridCol w="1524000"/>
                <a:gridCol w="6353175"/>
                <a:gridCol w="3095625"/>
              </a:tblGrid>
              <a:tr h="577850">
                <a:tc>
                  <a:txBody>
                    <a:bodyPr>
                      <a:noAutofit/>
                    </a:bodyPr>
                    <a:lstStyle/>
                    <a:p>
                      <a:r>
                        <a:rPr sz="1875" b="1">
                          <a:solidFill>
                            <a:srgbClr val="0F62FE"/>
                          </a:solidFill>
                          <a:latin typeface="Helvetica Neue"/>
                          <a:ea typeface="Helvetica Neue"/>
                          <a:cs typeface="Helvetica Neue"/>
                        </a:rPr>
                        <a:t>Prompt</a:t>
                      </a:r>
                    </a:p>
                  </a:txBody>
                  <a:tcPr marL="133350" marR="133350" marT="95250" marB="95250" anchor="ctr">
                    <a:solidFill>
                      <a:srgbClr val="FFFFFF"/>
                    </a:solidFill>
                  </a:tcPr>
                </a:tc>
                <a:tc>
                  <a:txBody>
                    <a:bodyPr>
                      <a:noAutofit/>
                    </a:bodyPr>
                    <a:lstStyle/>
                    <a:p>
                      <a:r>
                        <a:rPr sz="1875" b="1">
                          <a:solidFill>
                            <a:srgbClr val="0F62FE"/>
                          </a:solidFill>
                          <a:latin typeface="Helvetica Neue"/>
                          <a:ea typeface="Helvetica Neue"/>
                          <a:cs typeface="Helvetica Neue"/>
                        </a:rPr>
                        <a:t>Target reasoning</a:t>
                      </a:r>
                    </a:p>
                  </a:txBody>
                  <a:tcPr marL="133350" marR="133350" marT="95250" marB="95250" anchor="ctr">
                    <a:solidFill>
                      <a:srgbClr val="FFFFFF"/>
                    </a:solidFill>
                  </a:tcPr>
                </a:tc>
                <a:tc>
                  <a:txBody>
                    <a:bodyPr>
                      <a:noAutofit/>
                    </a:bodyPr>
                    <a:lstStyle/>
                    <a:p>
                      <a:r>
                        <a:rPr sz="1875" b="1">
                          <a:solidFill>
                            <a:srgbClr val="0F62FE"/>
                          </a:solidFill>
                          <a:latin typeface="Helvetica Neue"/>
                          <a:ea typeface="Helvetica Neue"/>
                          <a:cs typeface="Helvetica Neue"/>
                        </a:rPr>
                        <a:t>Target final answer</a:t>
                      </a:r>
                    </a:p>
                  </a:txBody>
                  <a:tcPr marL="133350" marR="133350" marT="95250" marB="95250" anchor="ctr">
                    <a:solidFill>
                      <a:srgbClr val="FFFFFF"/>
                    </a:solidFill>
                  </a:tcPr>
                </a:tc>
              </a:tr>
              <a:tr h="577850">
                <a:tc>
                  <a:txBody>
                    <a:bodyPr>
                      <a:noAutofit/>
                    </a:bodyPr>
                    <a:lstStyle/>
                    <a:p>
                      <a:r>
                        <a:rPr sz="1875" b="0">
                          <a:solidFill>
                            <a:srgbClr val="142335"/>
                          </a:solidFill>
                          <a:latin typeface="Helvetica Neue"/>
                          <a:ea typeface="Helvetica Neue"/>
                          <a:cs typeface="Helvetica Neue"/>
                        </a:rPr>
                        <a:t>P1</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Correct reasoning</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Correct</a:t>
                      </a:r>
                    </a:p>
                  </a:txBody>
                  <a:tcPr marL="133350" marR="133350" marT="95250" marB="95250" anchor="ctr">
                    <a:solidFill>
                      <a:srgbClr val="FFFFFF"/>
                    </a:solidFill>
                  </a:tcPr>
                </a:tc>
              </a:tr>
              <a:tr h="577850">
                <a:tc>
                  <a:txBody>
                    <a:bodyPr>
                      <a:noAutofit/>
                    </a:bodyPr>
                    <a:lstStyle/>
                    <a:p>
                      <a:r>
                        <a:rPr sz="1875" b="0">
                          <a:solidFill>
                            <a:srgbClr val="142335"/>
                          </a:solidFill>
                          <a:latin typeface="Helvetica Neue"/>
                          <a:ea typeface="Helvetica Neue"/>
                          <a:cs typeface="Helvetica Neue"/>
                        </a:rPr>
                        <a:t>P2</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Subtle logical or mathematical error</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Correct</a:t>
                      </a:r>
                    </a:p>
                  </a:txBody>
                  <a:tcPr marL="133350" marR="133350" marT="95250" marB="95250" anchor="ctr">
                    <a:solidFill>
                      <a:srgbClr val="FFFFFF"/>
                    </a:solidFill>
                  </a:tcPr>
                </a:tc>
              </a:tr>
              <a:tr h="577850">
                <a:tc>
                  <a:txBody>
                    <a:bodyPr>
                      <a:noAutofit/>
                    </a:bodyPr>
                    <a:lstStyle/>
                    <a:p>
                      <a:r>
                        <a:rPr sz="1875" b="0">
                          <a:solidFill>
                            <a:srgbClr val="142335"/>
                          </a:solidFill>
                          <a:latin typeface="Helvetica Neue"/>
                          <a:ea typeface="Helvetica Neue"/>
                          <a:cs typeface="Helvetica Neue"/>
                        </a:rPr>
                        <a:t>P3</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Sound approach, arithmetic slip</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Incorrect</a:t>
                      </a:r>
                    </a:p>
                  </a:txBody>
                  <a:tcPr marL="133350" marR="133350" marT="95250" marB="95250" anchor="ctr">
                    <a:solidFill>
                      <a:srgbClr val="FFFFFF"/>
                    </a:solidFill>
                  </a:tcPr>
                </a:tc>
              </a:tr>
              <a:tr h="577850">
                <a:tc>
                  <a:txBody>
                    <a:bodyPr>
                      <a:noAutofit/>
                    </a:bodyPr>
                    <a:lstStyle/>
                    <a:p>
                      <a:r>
                        <a:rPr sz="1875" b="0">
                          <a:solidFill>
                            <a:srgbClr val="142335"/>
                          </a:solidFill>
                          <a:latin typeface="Helvetica Neue"/>
                          <a:ea typeface="Helvetica Neue"/>
                          <a:cs typeface="Helvetica Neue"/>
                        </a:rPr>
                        <a:t>P4</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Incorrect reasoning</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Incorrect</a:t>
                      </a:r>
                    </a:p>
                  </a:txBody>
                  <a:tcPr marL="133350" marR="133350" marT="95250" marB="95250" anchor="ctr">
                    <a:solidFill>
                      <a:srgbClr val="FFFFFF"/>
                    </a:solidFill>
                  </a:tcPr>
                </a:tc>
              </a:tr>
              <a:tr h="577850">
                <a:tc>
                  <a:txBody>
                    <a:bodyPr>
                      <a:noAutofit/>
                    </a:bodyPr>
                    <a:lstStyle/>
                    <a:p>
                      <a:r>
                        <a:rPr sz="1875" b="0">
                          <a:solidFill>
                            <a:srgbClr val="142335"/>
                          </a:solidFill>
                          <a:latin typeface="Helvetica Neue"/>
                          <a:ea typeface="Helvetica Neue"/>
                          <a:cs typeface="Helvetica Neue"/>
                        </a:rPr>
                        <a:t>P5</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Brief, insufficient explanation</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Correct</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574B37B-ACB0-41D0-AA92-8B34DDFA540E}"/>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These are requested behaviors. Actual responses must still be evaluated.</a:t>
            </a:r>
          </a:p>
        </p:txBody>
      </p:sp>
    </p:spTree>
    <p:extLst>
      <p:ext uri="{BB962C8B-B14F-4D97-AF65-F5344CB8AC3E}">
        <p14:creationId xmlns:p14="http://schemas.microsoft.com/office/powerpoint/2010/main" val="9025232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53C580-AEE0-485B-8418-4BB281E75F02}"/>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SCORING</a:t>
            </a:r>
          </a:p>
        </p:txBody>
      </p:sp>
      <p:sp>
        <p:nvSpPr>
          <p:cNvPr id="2" name="">
            <a:extLst xmlns:a="http://schemas.openxmlformats.org/drawingml/2006/main">
              <a:ext uri="{FF2B5EF4-FFF2-40B4-BE49-F238E27FC236}">
                <a16:creationId xmlns:a16="http://schemas.microsoft.com/office/drawing/2014/main" id="{6CFE084F-3539-45D0-88AD-607945DC37B3}"/>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The rubric keeps three judgments independent</a:t>
            </a:r>
          </a:p>
        </p:txBody>
      </p:sp>
      <p:sp>
        <p:nvSpPr>
          <p:cNvPr id="3" name="">
            <a:extLst xmlns:a="http://schemas.openxmlformats.org/drawingml/2006/main">
              <a:ext uri="{FF2B5EF4-FFF2-40B4-BE49-F238E27FC236}">
                <a16:creationId xmlns:a16="http://schemas.microsoft.com/office/drawing/2014/main" id="{84AA22DB-6FC4-4C10-8AD4-FFE7B3E66CD5}"/>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E06641B1-3DCB-4591-AE30-F1D146C8B093}"/>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3C66C0CC-BDB8-4B55-8CA8-9B77E23DDA72}"/>
              </a:ext>
            </a:extLst>
          </p:cNvPr>
          <p:cNvSpPr>
            <a:spLocks xmlns:a="http://schemas.openxmlformats.org/drawingml/2006/main" noGrp="1"/>
          </p:cNvSpPr>
          <p:nvPr/>
        </p:nvSpPr>
        <p:spPr>
          <a:xfrm xmlns:a="http://schemas.openxmlformats.org/drawingml/2006/main">
            <a:off x="609600" y="18954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Answer correctness</a:t>
            </a:r>
          </a:p>
        </p:txBody>
      </p:sp>
      <p:sp>
        <p:nvSpPr>
          <p:cNvPr id="6" name="">
            <a:extLst xmlns:a="http://schemas.openxmlformats.org/drawingml/2006/main">
              <a:ext uri="{FF2B5EF4-FFF2-40B4-BE49-F238E27FC236}">
                <a16:creationId xmlns:a16="http://schemas.microsoft.com/office/drawing/2014/main" id="{7A0D480C-E0D0-45AB-AE9D-BA7A7A6069A4}"/>
              </a:ext>
            </a:extLst>
          </p:cNvPr>
          <p:cNvSpPr>
            <a:spLocks xmlns:a="http://schemas.openxmlformats.org/drawingml/2006/main" noGrp="1"/>
          </p:cNvSpPr>
          <p:nvPr/>
        </p:nvSpPr>
        <p:spPr>
          <a:xfrm xmlns:a="http://schemas.openxmlformats.org/drawingml/2006/main">
            <a:off x="3829050" y="1895475"/>
            <a:ext cx="7715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True or false. Compare the visible final numerical answer with ground truth in questions.json.</a:t>
            </a:r>
          </a:p>
        </p:txBody>
      </p:sp>
      <p:sp>
        <p:nvSpPr>
          <p:cNvPr id="7" name="">
            <a:extLst xmlns:a="http://schemas.openxmlformats.org/drawingml/2006/main">
              <a:ext uri="{FF2B5EF4-FFF2-40B4-BE49-F238E27FC236}">
                <a16:creationId xmlns:a16="http://schemas.microsoft.com/office/drawing/2014/main" id="{B4DAD385-FBA0-4CE8-AFEF-741C376C71AC}"/>
              </a:ext>
            </a:extLst>
          </p:cNvPr>
          <p:cNvSpPr>
            <a:spLocks xmlns:a="http://schemas.openxmlformats.org/drawingml/2006/main" noGrp="1"/>
          </p:cNvSpPr>
          <p:nvPr/>
        </p:nvSpPr>
        <p:spPr>
          <a:xfrm xmlns:a="http://schemas.openxmlformats.org/drawingml/2006/main">
            <a:off x="609600" y="297180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Reasoning quality</a:t>
            </a:r>
          </a:p>
        </p:txBody>
      </p:sp>
      <p:sp>
        <p:nvSpPr>
          <p:cNvPr id="8" name="">
            <a:extLst xmlns:a="http://schemas.openxmlformats.org/drawingml/2006/main">
              <a:ext uri="{FF2B5EF4-FFF2-40B4-BE49-F238E27FC236}">
                <a16:creationId xmlns:a16="http://schemas.microsoft.com/office/drawing/2014/main" id="{3D53C2DE-42EC-49F3-82C7-DD5D5DEF208A}"/>
              </a:ext>
            </a:extLst>
          </p:cNvPr>
          <p:cNvSpPr>
            <a:spLocks xmlns:a="http://schemas.openxmlformats.org/drawingml/2006/main" noGrp="1"/>
          </p:cNvSpPr>
          <p:nvPr/>
        </p:nvSpPr>
        <p:spPr>
          <a:xfrm xmlns:a="http://schemas.openxmlformats.org/drawingml/2006/main">
            <a:off x="3829050" y="2971800"/>
            <a:ext cx="7715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Integer 0–5. Assess mathematics in the reasoning trace and visible response.</a:t>
            </a:r>
          </a:p>
        </p:txBody>
      </p:sp>
      <p:sp>
        <p:nvSpPr>
          <p:cNvPr id="9" name="">
            <a:extLst xmlns:a="http://schemas.openxmlformats.org/drawingml/2006/main">
              <a:ext uri="{FF2B5EF4-FFF2-40B4-BE49-F238E27FC236}">
                <a16:creationId xmlns:a16="http://schemas.microsoft.com/office/drawing/2014/main" id="{B795782A-5312-4D03-BF9E-989896AF9D83}"/>
              </a:ext>
            </a:extLst>
          </p:cNvPr>
          <p:cNvSpPr>
            <a:spLocks xmlns:a="http://schemas.openxmlformats.org/drawingml/2006/main" noGrp="1"/>
          </p:cNvSpPr>
          <p:nvPr/>
        </p:nvSpPr>
        <p:spPr>
          <a:xfrm xmlns:a="http://schemas.openxmlformats.org/drawingml/2006/main">
            <a:off x="609600" y="404812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Prompt compliance</a:t>
            </a:r>
          </a:p>
        </p:txBody>
      </p:sp>
      <p:sp>
        <p:nvSpPr>
          <p:cNvPr id="10" name="">
            <a:extLst xmlns:a="http://schemas.openxmlformats.org/drawingml/2006/main">
              <a:ext uri="{FF2B5EF4-FFF2-40B4-BE49-F238E27FC236}">
                <a16:creationId xmlns:a16="http://schemas.microsoft.com/office/drawing/2014/main" id="{3D50BDA9-9DD9-43DE-AFAE-D03D94125BA0}"/>
              </a:ext>
            </a:extLst>
          </p:cNvPr>
          <p:cNvSpPr>
            <a:spLocks xmlns:a="http://schemas.openxmlformats.org/drawingml/2006/main" noGrp="1"/>
          </p:cNvSpPr>
          <p:nvPr/>
        </p:nvSpPr>
        <p:spPr>
          <a:xfrm xmlns:a="http://schemas.openxmlformats.org/drawingml/2006/main">
            <a:off x="3829050" y="4048125"/>
            <a:ext cx="7715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True or false. Check the exact original generation prompt, including intended errors.</a:t>
            </a:r>
          </a:p>
        </p:txBody>
      </p:sp>
      <p:sp>
        <p:nvSpPr>
          <p:cNvPr id="11" name="">
            <a:extLst xmlns:a="http://schemas.openxmlformats.org/drawingml/2006/main">
              <a:ext uri="{FF2B5EF4-FFF2-40B4-BE49-F238E27FC236}">
                <a16:creationId xmlns:a16="http://schemas.microsoft.com/office/drawing/2014/main" id="{5210EEE8-8FCB-48C4-A3FD-F61FCE8152F4}"/>
              </a:ext>
            </a:extLst>
          </p:cNvPr>
          <p:cNvSpPr>
            <a:spLocks xmlns:a="http://schemas.openxmlformats.org/drawingml/2006/main" noGrp="1"/>
          </p:cNvSpPr>
          <p:nvPr/>
        </p:nvSpPr>
        <p:spPr>
          <a:xfrm xmlns:a="http://schemas.openxmlformats.org/drawingml/2006/main">
            <a:off x="609600" y="529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377"/>
                </a:solidFill>
                <a:latin typeface="Helvetica Neue"/>
                <a:ea typeface="Helvetica Neue"/>
                <a:cs typeface="Helvetica Neue"/>
              </a:defRPr>
            </a:pPr>
            <a:r>
              <a:rPr sz="1725" b="0">
                <a:solidFill>
                  <a:srgbClr val="526377"/>
                </a:solidFill>
                <a:latin typeface="Helvetica Neue"/>
                <a:ea typeface="Helvetica Neue"/>
                <a:cs typeface="Helvetica Neue"/>
              </a:rPr>
              <a:t>CSV fields: answer_correct, reasoning_quality, follows_prompt_intent</a:t>
            </a:r>
          </a:p>
        </p:txBody>
      </p:sp>
      <p:sp>
        <p:nvSpPr>
          <p:cNvPr id="12" name="">
            <a:extLst xmlns:a="http://schemas.openxmlformats.org/drawingml/2006/main">
              <a:ext uri="{FF2B5EF4-FFF2-40B4-BE49-F238E27FC236}">
                <a16:creationId xmlns:a16="http://schemas.microsoft.com/office/drawing/2014/main" id="{ED000951-EDC2-4F3D-8560-6960B7918633}"/>
              </a:ext>
            </a:extLst>
          </p:cNvPr>
          <p:cNvSpPr>
            <a:spLocks xmlns:a="http://schemas.openxmlformats.org/drawingml/2006/main" noGrp="1"/>
          </p:cNvSpPr>
          <p:nvPr/>
        </p:nvSpPr>
        <p:spPr>
          <a:xfrm xmlns:a="http://schemas.openxmlformats.org/drawingml/2006/main">
            <a:off x="609600" y="5695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377"/>
                </a:solidFill>
                <a:latin typeface="Helvetica Neue"/>
                <a:ea typeface="Helvetica Neue"/>
                <a:cs typeface="Helvetica Neue"/>
              </a:defRPr>
            </a:pPr>
            <a:r>
              <a:rPr sz="1725" b="0">
                <a:solidFill>
                  <a:srgbClr val="526377"/>
                </a:solidFill>
                <a:latin typeface="Helvetica Neue"/>
                <a:ea typeface="Helvetica Neue"/>
                <a:cs typeface="Helvetica Neue"/>
              </a:rPr>
              <a:t>Each judgment also includes a written justification.</a:t>
            </a:r>
          </a:p>
        </p:txBody>
      </p:sp>
    </p:spTree>
    <p:extLst>
      <p:ext uri="{BB962C8B-B14F-4D97-AF65-F5344CB8AC3E}">
        <p14:creationId xmlns:p14="http://schemas.microsoft.com/office/powerpoint/2010/main" val="6593915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9B5EDC-9C80-443C-A478-B6CC1F61EE90}"/>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SCORING DEFINITIONS</a:t>
            </a:r>
          </a:p>
        </p:txBody>
      </p:sp>
      <p:sp>
        <p:nvSpPr>
          <p:cNvPr id="2" name="">
            <a:extLst xmlns:a="http://schemas.openxmlformats.org/drawingml/2006/main">
              <a:ext uri="{FF2B5EF4-FFF2-40B4-BE49-F238E27FC236}">
                <a16:creationId xmlns:a16="http://schemas.microsoft.com/office/drawing/2014/main" id="{964B17C9-153D-427E-B42C-17CEB28DF489}"/>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Reasoning quality: the complete 0–5 rubric</a:t>
            </a:r>
          </a:p>
        </p:txBody>
      </p:sp>
      <p:sp>
        <p:nvSpPr>
          <p:cNvPr id="3" name="">
            <a:extLst xmlns:a="http://schemas.openxmlformats.org/drawingml/2006/main">
              <a:ext uri="{FF2B5EF4-FFF2-40B4-BE49-F238E27FC236}">
                <a16:creationId xmlns:a16="http://schemas.microsoft.com/office/drawing/2014/main" id="{56D6B2F8-B480-43E5-8852-49D956581E8B}"/>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F273D515-D93B-4043-9BD6-FCC6D87B4BDA}"/>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09600" y="1828800"/>
          <a:ext xmlns:a="http://schemas.openxmlformats.org/drawingml/2006/main" cx="10972800" cy="3733800"/>
        </p:xfrm>
        <a:graphic xmlns:a="http://schemas.openxmlformats.org/drawingml/2006/main">
          <a:graphicData uri="http://schemas.openxmlformats.org/drawingml/2006/table">
            <a:tbl>
              <a:tblPr/>
              <a:tblGrid>
                <a:gridCol w="1333500"/>
                <a:gridCol w="9639300"/>
              </a:tblGrid>
              <a:tr h="533400">
                <a:tc>
                  <a:txBody>
                    <a:bodyPr>
                      <a:noAutofit/>
                    </a:bodyPr>
                    <a:lstStyle/>
                    <a:p>
                      <a:r>
                        <a:rPr sz="1875" b="1">
                          <a:solidFill>
                            <a:srgbClr val="0F62FE"/>
                          </a:solidFill>
                          <a:latin typeface="Helvetica Neue"/>
                          <a:ea typeface="Helvetica Neue"/>
                          <a:cs typeface="Helvetica Neue"/>
                        </a:rPr>
                        <a:t>Score</a:t>
                      </a:r>
                    </a:p>
                  </a:txBody>
                  <a:tcPr marL="133350" marR="133350" marT="95250" marB="95250" anchor="ctr">
                    <a:solidFill>
                      <a:srgbClr val="FFFFFF"/>
                    </a:solidFill>
                  </a:tcPr>
                </a:tc>
                <a:tc>
                  <a:txBody>
                    <a:bodyPr>
                      <a:noAutofit/>
                    </a:bodyPr>
                    <a:lstStyle/>
                    <a:p>
                      <a:r>
                        <a:rPr sz="1875" b="1">
                          <a:solidFill>
                            <a:srgbClr val="0F62FE"/>
                          </a:solidFill>
                          <a:latin typeface="Helvetica Neue"/>
                          <a:ea typeface="Helvetica Neue"/>
                          <a:cs typeface="Helvetica Neue"/>
                        </a:rPr>
                        <a:t>Rubric</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0</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No reasoning, or completely nonsensical reasoning</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1</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Mostly incorrect, with substantial mathematical or logical errors</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2</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Partially correct, with significant errors or gaps</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3</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Mostly correct, with a sound approach and minor issues</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4</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Correct and clear, with no significant errors</a:t>
                      </a:r>
                    </a:p>
                  </a:txBody>
                  <a:tcPr marL="133350" marR="133350" marT="95250" marB="95250" anchor="ctr">
                    <a:solidFill>
                      <a:srgbClr val="FFFFFF"/>
                    </a:solidFill>
                  </a:tcPr>
                </a:tc>
              </a:tr>
              <a:tr h="533400">
                <a:tc>
                  <a:txBody>
                    <a:bodyPr>
                      <a:noAutofit/>
                    </a:bodyPr>
                    <a:lstStyle/>
                    <a:p>
                      <a:r>
                        <a:rPr sz="1875" b="0">
                          <a:solidFill>
                            <a:srgbClr val="142335"/>
                          </a:solidFill>
                          <a:latin typeface="Helvetica Neue"/>
                          <a:ea typeface="Helvetica Neue"/>
                          <a:cs typeface="Helvetica Neue"/>
                        </a:rPr>
                        <a:t>5</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Mathematically rigorous, fully structured and clearly explained</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B74775F-A883-4EDA-8E9C-808C7BEF49C7}"/>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Score mathematical reasoning separately from the final answer and prompt compliance.</a:t>
            </a:r>
          </a:p>
        </p:txBody>
      </p:sp>
    </p:spTree>
    <p:extLst>
      <p:ext uri="{BB962C8B-B14F-4D97-AF65-F5344CB8AC3E}">
        <p14:creationId xmlns:p14="http://schemas.microsoft.com/office/powerpoint/2010/main" val="6614523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08B229-DE03-49EA-A846-8EC2D249F00D}"/>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WORKFLOW</a:t>
            </a:r>
          </a:p>
        </p:txBody>
      </p:sp>
      <p:sp>
        <p:nvSpPr>
          <p:cNvPr id="2" name="">
            <a:extLst xmlns:a="http://schemas.openxmlformats.org/drawingml/2006/main">
              <a:ext uri="{FF2B5EF4-FFF2-40B4-BE49-F238E27FC236}">
                <a16:creationId xmlns:a16="http://schemas.microsoft.com/office/drawing/2014/main" id="{389C2117-63A1-4AA6-A95B-CAE3801589F9}"/>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Each judgment preserves its evaluation context</a:t>
            </a:r>
          </a:p>
        </p:txBody>
      </p:sp>
      <p:sp>
        <p:nvSpPr>
          <p:cNvPr id="3" name="">
            <a:extLst xmlns:a="http://schemas.openxmlformats.org/drawingml/2006/main">
              <a:ext uri="{FF2B5EF4-FFF2-40B4-BE49-F238E27FC236}">
                <a16:creationId xmlns:a16="http://schemas.microsoft.com/office/drawing/2014/main" id="{DBD39C33-C153-4F08-820C-347C201FD9B4}"/>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00168279-A6F0-4BAC-8457-038AA5533574}"/>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1C2C0B71-8E43-4048-9B37-64322E6906A1}"/>
              </a:ext>
            </a:extLst>
          </p:cNvPr>
          <p:cNvSpPr>
            <a:spLocks xmlns:a="http://schemas.openxmlformats.org/drawingml/2006/main" noGrp="1"/>
          </p:cNvSpPr>
          <p:nvPr/>
        </p:nvSpPr>
        <p:spPr>
          <a:xfrm xmlns:a="http://schemas.openxmlformats.org/drawingml/2006/main">
            <a:off x="609600" y="18573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01  Load and validate</a:t>
            </a:r>
          </a:p>
        </p:txBody>
      </p:sp>
      <p:sp>
        <p:nvSpPr>
          <p:cNvPr id="6" name="">
            <a:extLst xmlns:a="http://schemas.openxmlformats.org/drawingml/2006/main">
              <a:ext uri="{FF2B5EF4-FFF2-40B4-BE49-F238E27FC236}">
                <a16:creationId xmlns:a16="http://schemas.microsoft.com/office/drawing/2014/main" id="{47143EDD-BC12-4327-9BD4-05D1E4D6966D}"/>
              </a:ext>
            </a:extLst>
          </p:cNvPr>
          <p:cNvSpPr>
            <a:spLocks xmlns:a="http://schemas.openxmlformats.org/drawingml/2006/main" noGrp="1"/>
          </p:cNvSpPr>
          <p:nvPr/>
        </p:nvSpPr>
        <p:spPr>
          <a:xfrm xmlns:a="http://schemas.openxmlformats.org/drawingml/2006/main">
            <a:off x="3829050" y="1857375"/>
            <a:ext cx="771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Read candidates and numerical references. Validate question IDs and the selected response keys.</a:t>
            </a:r>
          </a:p>
        </p:txBody>
      </p:sp>
      <p:sp>
        <p:nvSpPr>
          <p:cNvPr id="7" name="">
            <a:extLst xmlns:a="http://schemas.openxmlformats.org/drawingml/2006/main">
              <a:ext uri="{FF2B5EF4-FFF2-40B4-BE49-F238E27FC236}">
                <a16:creationId xmlns:a16="http://schemas.microsoft.com/office/drawing/2014/main" id="{35ACD9F2-6C5D-40A2-BEA3-9597D787976B}"/>
              </a:ext>
            </a:extLst>
          </p:cNvPr>
          <p:cNvSpPr>
            <a:spLocks xmlns:a="http://schemas.openxmlformats.org/drawingml/2006/main" noGrp="1"/>
          </p:cNvSpPr>
          <p:nvPr/>
        </p:nvSpPr>
        <p:spPr>
          <a:xfrm xmlns:a="http://schemas.openxmlformats.org/drawingml/2006/main">
            <a:off x="609600" y="28003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02  Evaluate</a:t>
            </a:r>
          </a:p>
        </p:txBody>
      </p:sp>
      <p:sp>
        <p:nvSpPr>
          <p:cNvPr id="8" name="">
            <a:extLst xmlns:a="http://schemas.openxmlformats.org/drawingml/2006/main">
              <a:ext uri="{FF2B5EF4-FFF2-40B4-BE49-F238E27FC236}">
                <a16:creationId xmlns:a16="http://schemas.microsoft.com/office/drawing/2014/main" id="{BDEF83F5-A8CF-4CE1-8FF8-E8BED8058CDE}"/>
              </a:ext>
            </a:extLst>
          </p:cNvPr>
          <p:cNvSpPr>
            <a:spLocks xmlns:a="http://schemas.openxmlformats.org/drawingml/2006/main" noGrp="1"/>
          </p:cNvSpPr>
          <p:nvPr/>
        </p:nvSpPr>
        <p:spPr>
          <a:xfrm xmlns:a="http://schemas.openxmlformats.org/drawingml/2006/main">
            <a:off x="3829050" y="2800350"/>
            <a:ext cx="771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Send problem, reference, exact generation prompt, reasoning trace and visible response to the judge.</a:t>
            </a:r>
          </a:p>
        </p:txBody>
      </p:sp>
      <p:sp>
        <p:nvSpPr>
          <p:cNvPr id="9" name="">
            <a:extLst xmlns:a="http://schemas.openxmlformats.org/drawingml/2006/main">
              <a:ext uri="{FF2B5EF4-FFF2-40B4-BE49-F238E27FC236}">
                <a16:creationId xmlns:a16="http://schemas.microsoft.com/office/drawing/2014/main" id="{86CEAED9-7402-489C-8055-ABF826A82D2C}"/>
              </a:ext>
            </a:extLst>
          </p:cNvPr>
          <p:cNvSpPr>
            <a:spLocks xmlns:a="http://schemas.openxmlformats.org/drawingml/2006/main" noGrp="1"/>
          </p:cNvSpPr>
          <p:nvPr/>
        </p:nvSpPr>
        <p:spPr>
          <a:xfrm xmlns:a="http://schemas.openxmlformats.org/drawingml/2006/main">
            <a:off x="609600" y="374332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03  Validate and save</a:t>
            </a:r>
          </a:p>
        </p:txBody>
      </p:sp>
      <p:sp>
        <p:nvSpPr>
          <p:cNvPr id="10" name="">
            <a:extLst xmlns:a="http://schemas.openxmlformats.org/drawingml/2006/main">
              <a:ext uri="{FF2B5EF4-FFF2-40B4-BE49-F238E27FC236}">
                <a16:creationId xmlns:a16="http://schemas.microsoft.com/office/drawing/2014/main" id="{AB4AF8B4-1855-4F02-A512-856947126577}"/>
              </a:ext>
            </a:extLst>
          </p:cNvPr>
          <p:cNvSpPr>
            <a:spLocks xmlns:a="http://schemas.openxmlformats.org/drawingml/2006/main" noGrp="1"/>
          </p:cNvSpPr>
          <p:nvPr/>
        </p:nvSpPr>
        <p:spPr>
          <a:xfrm xmlns:a="http://schemas.openxmlformats.org/drawingml/2006/main">
            <a:off x="3829050" y="3743325"/>
            <a:ext cx="771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Require complete JSON with valid ratings. Save justification and raw output in a separate results file.</a:t>
            </a:r>
          </a:p>
        </p:txBody>
      </p:sp>
      <p:sp>
        <p:nvSpPr>
          <p:cNvPr id="11" name="">
            <a:extLst xmlns:a="http://schemas.openxmlformats.org/drawingml/2006/main">
              <a:ext uri="{FF2B5EF4-FFF2-40B4-BE49-F238E27FC236}">
                <a16:creationId xmlns:a16="http://schemas.microsoft.com/office/drawing/2014/main" id="{D4B7EEB5-13C4-462B-ADEE-B2FCD282B1B9}"/>
              </a:ext>
            </a:extLst>
          </p:cNvPr>
          <p:cNvSpPr>
            <a:spLocks xmlns:a="http://schemas.openxmlformats.org/drawingml/2006/main" noGrp="1"/>
          </p:cNvSpPr>
          <p:nvPr/>
        </p:nvSpPr>
        <p:spPr>
          <a:xfrm xmlns:a="http://schemas.openxmlformats.org/drawingml/2006/main">
            <a:off x="609600" y="468630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04  Resume and audit</a:t>
            </a:r>
          </a:p>
        </p:txBody>
      </p:sp>
      <p:sp>
        <p:nvSpPr>
          <p:cNvPr id="12" name="">
            <a:extLst xmlns:a="http://schemas.openxmlformats.org/drawingml/2006/main">
              <a:ext uri="{FF2B5EF4-FFF2-40B4-BE49-F238E27FC236}">
                <a16:creationId xmlns:a16="http://schemas.microsoft.com/office/drawing/2014/main" id="{6643DC84-E147-40A4-873B-33FE25B84A6B}"/>
              </a:ext>
            </a:extLst>
          </p:cNvPr>
          <p:cNvSpPr>
            <a:spLocks xmlns:a="http://schemas.openxmlformats.org/drawingml/2006/main" noGrp="1"/>
          </p:cNvSpPr>
          <p:nvPr/>
        </p:nvSpPr>
        <p:spPr>
          <a:xfrm xmlns:a="http://schemas.openxmlformats.org/drawingml/2006/main">
            <a:off x="3829050" y="4686300"/>
            <a:ext cx="771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Skip saved valid rows. Retry failures. Compare judges only on matching response keys.</a:t>
            </a:r>
          </a:p>
        </p:txBody>
      </p:sp>
    </p:spTree>
    <p:extLst>
      <p:ext uri="{BB962C8B-B14F-4D97-AF65-F5344CB8AC3E}">
        <p14:creationId xmlns:p14="http://schemas.microsoft.com/office/powerpoint/2010/main" val="1755640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B05C416-B861-465C-8D11-FFA7CDA6854D}"/>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SYSTEM DESIGN</a:t>
            </a:r>
          </a:p>
        </p:txBody>
      </p:sp>
      <p:sp>
        <p:nvSpPr>
          <p:cNvPr id="2" name="">
            <a:extLst xmlns:a="http://schemas.openxmlformats.org/drawingml/2006/main">
              <a:ext uri="{FF2B5EF4-FFF2-40B4-BE49-F238E27FC236}">
                <a16:creationId xmlns:a16="http://schemas.microsoft.com/office/drawing/2014/main" id="{A5331DFB-A21E-40B6-8A41-7CFE2EC1BBF0}"/>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IndicJudge evaluation architecture</a:t>
            </a:r>
          </a:p>
        </p:txBody>
      </p:sp>
      <p:sp>
        <p:nvSpPr>
          <p:cNvPr id="3" name="">
            <a:extLst xmlns:a="http://schemas.openxmlformats.org/drawingml/2006/main">
              <a:ext uri="{FF2B5EF4-FFF2-40B4-BE49-F238E27FC236}">
                <a16:creationId xmlns:a16="http://schemas.microsoft.com/office/drawing/2014/main" id="{30A2121C-3EAA-461B-B661-516C048DDA7A}"/>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843228AB-BBBB-4CBA-840D-7D316198DC4D}"/>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08</a:t>
            </a:r>
          </a:p>
        </p:txBody>
      </p:sp>
      <p:sp>
        <p:nvSpPr>
          <p:cNvPr id="5" name="Source data">
            <a:extLst xmlns:a="http://schemas.openxmlformats.org/drawingml/2006/main">
              <a:ext uri="{FF2B5EF4-FFF2-40B4-BE49-F238E27FC236}">
                <a16:creationId xmlns:a16="http://schemas.microsoft.com/office/drawing/2014/main" id="{E0381520-FF92-4181-9A48-57E9E93054ED}"/>
              </a:ext>
            </a:extLst>
          </p:cNvPr>
          <p:cNvSpPr>
            <a:spLocks xmlns:a="http://schemas.openxmlformats.org/drawingml/2006/main" noGrp="1"/>
          </p:cNvSpPr>
          <p:nvPr/>
        </p:nvSpPr>
        <p:spPr>
          <a:xfrm xmlns:a="http://schemas.openxmlformats.org/drawingml/2006/main">
            <a:off x="609600" y="1981200"/>
            <a:ext cx="24003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6" name="">
            <a:extLst xmlns:a="http://schemas.openxmlformats.org/drawingml/2006/main">
              <a:ext uri="{FF2B5EF4-FFF2-40B4-BE49-F238E27FC236}">
                <a16:creationId xmlns:a16="http://schemas.microsoft.com/office/drawing/2014/main" id="{42ACE387-13AF-4E91-80B7-851087564A9C}"/>
              </a:ext>
            </a:extLst>
          </p:cNvPr>
          <p:cNvSpPr>
            <a:spLocks xmlns:a="http://schemas.openxmlformats.org/drawingml/2006/main" noGrp="1"/>
          </p:cNvSpPr>
          <p:nvPr/>
        </p:nvSpPr>
        <p:spPr>
          <a:xfrm xmlns:a="http://schemas.openxmlformats.org/drawingml/2006/main">
            <a:off x="723900" y="20955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Source data</a:t>
            </a:r>
          </a:p>
        </p:txBody>
      </p:sp>
      <p:sp>
        <p:nvSpPr>
          <p:cNvPr id="7" name="">
            <a:extLst xmlns:a="http://schemas.openxmlformats.org/drawingml/2006/main">
              <a:ext uri="{FF2B5EF4-FFF2-40B4-BE49-F238E27FC236}">
                <a16:creationId xmlns:a16="http://schemas.microsoft.com/office/drawing/2014/main" id="{763D173D-D80E-4B8D-B101-36EA911E7085}"/>
              </a:ext>
            </a:extLst>
          </p:cNvPr>
          <p:cNvSpPr>
            <a:spLocks xmlns:a="http://schemas.openxmlformats.org/drawingml/2006/main" noGrp="1"/>
          </p:cNvSpPr>
          <p:nvPr/>
        </p:nvSpPr>
        <p:spPr>
          <a:xfrm xmlns:a="http://schemas.openxmlformats.org/drawingml/2006/main">
            <a:off x="723900" y="2514600"/>
            <a:ext cx="2171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GSM / MGSM</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10 languages</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P1–P5 prompts</a:t>
            </a:r>
          </a:p>
        </p:txBody>
      </p:sp>
      <p:sp>
        <p:nvSpPr>
          <p:cNvPr id="8" name="Candidates">
            <a:extLst xmlns:a="http://schemas.openxmlformats.org/drawingml/2006/main">
              <a:ext uri="{FF2B5EF4-FFF2-40B4-BE49-F238E27FC236}">
                <a16:creationId xmlns:a16="http://schemas.microsoft.com/office/drawing/2014/main" id="{66BBD539-1383-42A7-943B-617581764068}"/>
              </a:ext>
            </a:extLst>
          </p:cNvPr>
          <p:cNvSpPr>
            <a:spLocks xmlns:a="http://schemas.openxmlformats.org/drawingml/2006/main" noGrp="1"/>
          </p:cNvSpPr>
          <p:nvPr/>
        </p:nvSpPr>
        <p:spPr>
          <a:xfrm xmlns:a="http://schemas.openxmlformats.org/drawingml/2006/main">
            <a:off x="3467100" y="1981200"/>
            <a:ext cx="24003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9" name="">
            <a:extLst xmlns:a="http://schemas.openxmlformats.org/drawingml/2006/main">
              <a:ext uri="{FF2B5EF4-FFF2-40B4-BE49-F238E27FC236}">
                <a16:creationId xmlns:a16="http://schemas.microsoft.com/office/drawing/2014/main" id="{A0E477CA-A503-41A0-8399-74755FDF16B5}"/>
              </a:ext>
            </a:extLst>
          </p:cNvPr>
          <p:cNvSpPr>
            <a:spLocks xmlns:a="http://schemas.openxmlformats.org/drawingml/2006/main" noGrp="1"/>
          </p:cNvSpPr>
          <p:nvPr/>
        </p:nvSpPr>
        <p:spPr>
          <a:xfrm xmlns:a="http://schemas.openxmlformats.org/drawingml/2006/main">
            <a:off x="3581400" y="20955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Candidates</a:t>
            </a:r>
          </a:p>
        </p:txBody>
      </p:sp>
      <p:sp>
        <p:nvSpPr>
          <p:cNvPr id="10" name="">
            <a:extLst xmlns:a="http://schemas.openxmlformats.org/drawingml/2006/main">
              <a:ext uri="{FF2B5EF4-FFF2-40B4-BE49-F238E27FC236}">
                <a16:creationId xmlns:a16="http://schemas.microsoft.com/office/drawing/2014/main" id="{E8252DF5-AFEE-454B-B4A6-206D54B2C8CC}"/>
              </a:ext>
            </a:extLst>
          </p:cNvPr>
          <p:cNvSpPr>
            <a:spLocks xmlns:a="http://schemas.openxmlformats.org/drawingml/2006/main" noGrp="1"/>
          </p:cNvSpPr>
          <p:nvPr/>
        </p:nvSpPr>
        <p:spPr>
          <a:xfrm xmlns:a="http://schemas.openxmlformats.org/drawingml/2006/main">
            <a:off x="3581400" y="2514600"/>
            <a:ext cx="2171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Gemma 26B + 31B</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20 CSV files</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5,000 responses</a:t>
            </a:r>
          </a:p>
        </p:txBody>
      </p:sp>
      <p:sp>
        <p:nvSpPr>
          <p:cNvPr id="11" name="Judge input">
            <a:extLst xmlns:a="http://schemas.openxmlformats.org/drawingml/2006/main">
              <a:ext uri="{FF2B5EF4-FFF2-40B4-BE49-F238E27FC236}">
                <a16:creationId xmlns:a16="http://schemas.microsoft.com/office/drawing/2014/main" id="{08E29242-AC24-425F-8626-8A0CE276D9A9}"/>
              </a:ext>
            </a:extLst>
          </p:cNvPr>
          <p:cNvSpPr>
            <a:spLocks xmlns:a="http://schemas.openxmlformats.org/drawingml/2006/main" noGrp="1"/>
          </p:cNvSpPr>
          <p:nvPr/>
        </p:nvSpPr>
        <p:spPr>
          <a:xfrm xmlns:a="http://schemas.openxmlformats.org/drawingml/2006/main">
            <a:off x="6324600" y="1981200"/>
            <a:ext cx="24003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12" name="">
            <a:extLst xmlns:a="http://schemas.openxmlformats.org/drawingml/2006/main">
              <a:ext uri="{FF2B5EF4-FFF2-40B4-BE49-F238E27FC236}">
                <a16:creationId xmlns:a16="http://schemas.microsoft.com/office/drawing/2014/main" id="{CE08E4D2-C65E-4AE9-B505-5CE2ED9D9584}"/>
              </a:ext>
            </a:extLst>
          </p:cNvPr>
          <p:cNvSpPr>
            <a:spLocks xmlns:a="http://schemas.openxmlformats.org/drawingml/2006/main" noGrp="1"/>
          </p:cNvSpPr>
          <p:nvPr/>
        </p:nvSpPr>
        <p:spPr>
          <a:xfrm xmlns:a="http://schemas.openxmlformats.org/drawingml/2006/main">
            <a:off x="6438900" y="20955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Judge input</a:t>
            </a:r>
          </a:p>
        </p:txBody>
      </p:sp>
      <p:sp>
        <p:nvSpPr>
          <p:cNvPr id="13" name="">
            <a:extLst xmlns:a="http://schemas.openxmlformats.org/drawingml/2006/main">
              <a:ext uri="{FF2B5EF4-FFF2-40B4-BE49-F238E27FC236}">
                <a16:creationId xmlns:a16="http://schemas.microsoft.com/office/drawing/2014/main" id="{FE1B53AD-DE8E-4B38-97B7-9D1C23FD77E7}"/>
              </a:ext>
            </a:extLst>
          </p:cNvPr>
          <p:cNvSpPr>
            <a:spLocks xmlns:a="http://schemas.openxmlformats.org/drawingml/2006/main" noGrp="1"/>
          </p:cNvSpPr>
          <p:nvPr/>
        </p:nvSpPr>
        <p:spPr>
          <a:xfrm xmlns:a="http://schemas.openxmlformats.org/drawingml/2006/main">
            <a:off x="6438900" y="2514600"/>
            <a:ext cx="2171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Original prompt</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Reference answer</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Reasoning + response</a:t>
            </a:r>
          </a:p>
        </p:txBody>
      </p:sp>
      <p:sp>
        <p:nvSpPr>
          <p:cNvPr id="14" name="LLM judges">
            <a:extLst xmlns:a="http://schemas.openxmlformats.org/drawingml/2006/main">
              <a:ext uri="{FF2B5EF4-FFF2-40B4-BE49-F238E27FC236}">
                <a16:creationId xmlns:a16="http://schemas.microsoft.com/office/drawing/2014/main" id="{6B2C4E35-C787-4C5B-9A4A-16C2E0982CA0}"/>
              </a:ext>
            </a:extLst>
          </p:cNvPr>
          <p:cNvSpPr>
            <a:spLocks xmlns:a="http://schemas.openxmlformats.org/drawingml/2006/main" noGrp="1"/>
          </p:cNvSpPr>
          <p:nvPr/>
        </p:nvSpPr>
        <p:spPr>
          <a:xfrm xmlns:a="http://schemas.openxmlformats.org/drawingml/2006/main">
            <a:off x="9182100" y="1981200"/>
            <a:ext cx="2400300" cy="166687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15" name="">
            <a:extLst xmlns:a="http://schemas.openxmlformats.org/drawingml/2006/main">
              <a:ext uri="{FF2B5EF4-FFF2-40B4-BE49-F238E27FC236}">
                <a16:creationId xmlns:a16="http://schemas.microsoft.com/office/drawing/2014/main" id="{4984B685-FBA2-466B-AAB6-D24EFF373BC6}"/>
              </a:ext>
            </a:extLst>
          </p:cNvPr>
          <p:cNvSpPr>
            <a:spLocks xmlns:a="http://schemas.openxmlformats.org/drawingml/2006/main" noGrp="1"/>
          </p:cNvSpPr>
          <p:nvPr/>
        </p:nvSpPr>
        <p:spPr>
          <a:xfrm xmlns:a="http://schemas.openxmlformats.org/drawingml/2006/main">
            <a:off x="9296400" y="20955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LLM judges</a:t>
            </a:r>
          </a:p>
        </p:txBody>
      </p:sp>
      <p:sp>
        <p:nvSpPr>
          <p:cNvPr id="16" name="">
            <a:extLst xmlns:a="http://schemas.openxmlformats.org/drawingml/2006/main">
              <a:ext uri="{FF2B5EF4-FFF2-40B4-BE49-F238E27FC236}">
                <a16:creationId xmlns:a16="http://schemas.microsoft.com/office/drawing/2014/main" id="{F4C9F648-218A-4F49-AB47-2F4458F5D2EF}"/>
              </a:ext>
            </a:extLst>
          </p:cNvPr>
          <p:cNvSpPr>
            <a:spLocks xmlns:a="http://schemas.openxmlformats.org/drawingml/2006/main" noGrp="1"/>
          </p:cNvSpPr>
          <p:nvPr/>
        </p:nvSpPr>
        <p:spPr>
          <a:xfrm xmlns:a="http://schemas.openxmlformats.org/drawingml/2006/main">
            <a:off x="9296400" y="2514600"/>
            <a:ext cx="2171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Sarvam-30B</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Qwen3-14B</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Ministral 3 8B</a:t>
            </a:r>
          </a:p>
        </p:txBody>
      </p:sp>
      <p:sp>
        <p:nvSpPr>
          <p:cNvPr id="17" name="Human review">
            <a:extLst xmlns:a="http://schemas.openxmlformats.org/drawingml/2006/main">
              <a:ext uri="{FF2B5EF4-FFF2-40B4-BE49-F238E27FC236}">
                <a16:creationId xmlns:a16="http://schemas.microsoft.com/office/drawing/2014/main" id="{A44E0821-9B52-46B0-8A8A-72F348262766}"/>
              </a:ext>
            </a:extLst>
          </p:cNvPr>
          <p:cNvSpPr>
            <a:spLocks xmlns:a="http://schemas.openxmlformats.org/drawingml/2006/main" noGrp="1"/>
          </p:cNvSpPr>
          <p:nvPr/>
        </p:nvSpPr>
        <p:spPr>
          <a:xfrm xmlns:a="http://schemas.openxmlformats.org/drawingml/2006/main">
            <a:off x="609600" y="4381500"/>
            <a:ext cx="2857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18" name="">
            <a:extLst xmlns:a="http://schemas.openxmlformats.org/drawingml/2006/main">
              <a:ext uri="{FF2B5EF4-FFF2-40B4-BE49-F238E27FC236}">
                <a16:creationId xmlns:a16="http://schemas.microsoft.com/office/drawing/2014/main" id="{9CD0D8BC-6BF0-456D-9D61-83B8B7320875}"/>
              </a:ext>
            </a:extLst>
          </p:cNvPr>
          <p:cNvSpPr>
            <a:spLocks xmlns:a="http://schemas.openxmlformats.org/drawingml/2006/main" noGrp="1"/>
          </p:cNvSpPr>
          <p:nvPr/>
        </p:nvSpPr>
        <p:spPr>
          <a:xfrm xmlns:a="http://schemas.openxmlformats.org/drawingml/2006/main">
            <a:off x="723900" y="4495800"/>
            <a:ext cx="262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Human review</a:t>
            </a:r>
          </a:p>
        </p:txBody>
      </p:sp>
      <p:sp>
        <p:nvSpPr>
          <p:cNvPr id="19" name="">
            <a:extLst xmlns:a="http://schemas.openxmlformats.org/drawingml/2006/main">
              <a:ext uri="{FF2B5EF4-FFF2-40B4-BE49-F238E27FC236}">
                <a16:creationId xmlns:a16="http://schemas.microsoft.com/office/drawing/2014/main" id="{019D064F-1884-4584-AE96-435AA1B238EC}"/>
              </a:ext>
            </a:extLst>
          </p:cNvPr>
          <p:cNvSpPr>
            <a:spLocks xmlns:a="http://schemas.openxmlformats.org/drawingml/2006/main" noGrp="1"/>
          </p:cNvSpPr>
          <p:nvPr/>
        </p:nvSpPr>
        <p:spPr>
          <a:xfrm xmlns:a="http://schemas.openxmlformats.org/drawingml/2006/main">
            <a:off x="723900" y="4914900"/>
            <a:ext cx="2628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200 sampled responses</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Independent ratings</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Pending completion</a:t>
            </a:r>
          </a:p>
        </p:txBody>
      </p:sp>
      <p:sp>
        <p:nvSpPr>
          <p:cNvPr id="20" name="Matched comparison">
            <a:extLst xmlns:a="http://schemas.openxmlformats.org/drawingml/2006/main">
              <a:ext uri="{FF2B5EF4-FFF2-40B4-BE49-F238E27FC236}">
                <a16:creationId xmlns:a16="http://schemas.microsoft.com/office/drawing/2014/main" id="{5ADC7F16-03B9-4444-911B-9B2D50192FCA}"/>
              </a:ext>
            </a:extLst>
          </p:cNvPr>
          <p:cNvSpPr>
            <a:spLocks xmlns:a="http://schemas.openxmlformats.org/drawingml/2006/main" noGrp="1"/>
          </p:cNvSpPr>
          <p:nvPr/>
        </p:nvSpPr>
        <p:spPr>
          <a:xfrm xmlns:a="http://schemas.openxmlformats.org/drawingml/2006/main">
            <a:off x="4419600" y="4381500"/>
            <a:ext cx="38100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21" name="">
            <a:extLst xmlns:a="http://schemas.openxmlformats.org/drawingml/2006/main">
              <a:ext uri="{FF2B5EF4-FFF2-40B4-BE49-F238E27FC236}">
                <a16:creationId xmlns:a16="http://schemas.microsoft.com/office/drawing/2014/main" id="{F15E1E8C-5C0D-425E-ADAD-0B1ED223110F}"/>
              </a:ext>
            </a:extLst>
          </p:cNvPr>
          <p:cNvSpPr>
            <a:spLocks xmlns:a="http://schemas.openxmlformats.org/drawingml/2006/main" noGrp="1"/>
          </p:cNvSpPr>
          <p:nvPr/>
        </p:nvSpPr>
        <p:spPr>
          <a:xfrm xmlns:a="http://schemas.openxmlformats.org/drawingml/2006/main">
            <a:off x="4533900" y="4495800"/>
            <a:ext cx="358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Matched comparison</a:t>
            </a:r>
          </a:p>
        </p:txBody>
      </p:sp>
      <p:sp>
        <p:nvSpPr>
          <p:cNvPr id="22" name="">
            <a:extLst xmlns:a="http://schemas.openxmlformats.org/drawingml/2006/main">
              <a:ext uri="{FF2B5EF4-FFF2-40B4-BE49-F238E27FC236}">
                <a16:creationId xmlns:a16="http://schemas.microsoft.com/office/drawing/2014/main" id="{CD3571B0-5BFF-47F9-BC0B-545ECBBDC354}"/>
              </a:ext>
            </a:extLst>
          </p:cNvPr>
          <p:cNvSpPr>
            <a:spLocks xmlns:a="http://schemas.openxmlformats.org/drawingml/2006/main" noGrp="1"/>
          </p:cNvSpPr>
          <p:nvPr/>
        </p:nvSpPr>
        <p:spPr>
          <a:xfrm xmlns:a="http://schemas.openxmlformats.org/drawingml/2006/main">
            <a:off x="4533900" y="4914900"/>
            <a:ext cx="3581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Join by response key</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Judge agreement</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Human validation after review</a:t>
            </a:r>
          </a:p>
        </p:txBody>
      </p:sp>
      <p:sp>
        <p:nvSpPr>
          <p:cNvPr id="23" name="Validated results">
            <a:extLst xmlns:a="http://schemas.openxmlformats.org/drawingml/2006/main">
              <a:ext uri="{FF2B5EF4-FFF2-40B4-BE49-F238E27FC236}">
                <a16:creationId xmlns:a16="http://schemas.microsoft.com/office/drawing/2014/main" id="{A58A3915-3085-4A59-844A-EB5C56063BFA}"/>
              </a:ext>
            </a:extLst>
          </p:cNvPr>
          <p:cNvSpPr>
            <a:spLocks xmlns:a="http://schemas.openxmlformats.org/drawingml/2006/main" noGrp="1"/>
          </p:cNvSpPr>
          <p:nvPr/>
        </p:nvSpPr>
        <p:spPr>
          <a:xfrm xmlns:a="http://schemas.openxmlformats.org/drawingml/2006/main">
            <a:off x="9182100" y="4381500"/>
            <a:ext cx="24003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0F62FE"/>
            </a:solidFill>
          </a:ln>
        </p:spPr>
      </p:sp>
      <p:sp>
        <p:nvSpPr>
          <p:cNvPr id="24" name="">
            <a:extLst xmlns:a="http://schemas.openxmlformats.org/drawingml/2006/main">
              <a:ext uri="{FF2B5EF4-FFF2-40B4-BE49-F238E27FC236}">
                <a16:creationId xmlns:a16="http://schemas.microsoft.com/office/drawing/2014/main" id="{F0AB5FC5-EF28-49D2-B53B-B560A6DD8F19}"/>
              </a:ext>
            </a:extLst>
          </p:cNvPr>
          <p:cNvSpPr>
            <a:spLocks xmlns:a="http://schemas.openxmlformats.org/drawingml/2006/main" noGrp="1"/>
          </p:cNvSpPr>
          <p:nvPr/>
        </p:nvSpPr>
        <p:spPr>
          <a:xfrm xmlns:a="http://schemas.openxmlformats.org/drawingml/2006/main">
            <a:off x="9296400" y="44958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Validated results</a:t>
            </a:r>
          </a:p>
        </p:txBody>
      </p:sp>
      <p:sp>
        <p:nvSpPr>
          <p:cNvPr id="25" name="">
            <a:extLst xmlns:a="http://schemas.openxmlformats.org/drawingml/2006/main">
              <a:ext uri="{FF2B5EF4-FFF2-40B4-BE49-F238E27FC236}">
                <a16:creationId xmlns:a16="http://schemas.microsoft.com/office/drawing/2014/main" id="{F58C2428-2E20-4B67-9EAA-62E20AA2CB49}"/>
              </a:ext>
            </a:extLst>
          </p:cNvPr>
          <p:cNvSpPr>
            <a:spLocks xmlns:a="http://schemas.openxmlformats.org/drawingml/2006/main" noGrp="1"/>
          </p:cNvSpPr>
          <p:nvPr/>
        </p:nvSpPr>
        <p:spPr>
          <a:xfrm xmlns:a="http://schemas.openxmlformats.org/drawingml/2006/main">
            <a:off x="9296400" y="4914900"/>
            <a:ext cx="2171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Ratings + rationale</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Separate CSVs</a:t>
            </a:r>
          </a:p>
          <a:p xmlns:a="http://schemas.openxmlformats.org/drawingml/2006/main">
            <a:pPr>
              <a:defRPr sz="1725" b="0">
                <a:solidFill>
                  <a:srgbClr val="142335"/>
                </a:solidFill>
                <a:latin typeface="Helvetica Neue"/>
                <a:ea typeface="Helvetica Neue"/>
                <a:cs typeface="Helvetica Neue"/>
              </a:defRPr>
            </a:pPr>
            <a:r>
              <a:rPr sz="1725" b="0">
                <a:solidFill>
                  <a:srgbClr val="142335"/>
                </a:solidFill>
                <a:latin typeface="Helvetica Neue"/>
                <a:ea typeface="Helvetica Neue"/>
                <a:cs typeface="Helvetica Neue"/>
              </a:rPr>
              <a:t>Resume saved rows</a:t>
            </a:r>
          </a:p>
        </p:txBody>
      </p:sp>
      <p:cxnSp>
        <p:nvCxnSpPr>
          <p:cNvPr id="59" name=""/>
          <p:cNvCxnSpPr>
            <a:stCxn xmlns:a="http://schemas.openxmlformats.org/drawingml/2006/main" id="5" idx="3"/>
            <a:endCxn xmlns:a="http://schemas.openxmlformats.org/drawingml/2006/main" id="8" idx="1"/>
          </p:cNvCxnSpPr>
          <p:nvPr/>
        </p:nvCxnSpPr>
        <p:spPr>
          <a:xfrm xmlns:a="http://schemas.openxmlformats.org/drawingml/2006/main">
            <a:off x="3009900" y="2814638"/>
            <a:ext cx="457200" cy="0"/>
          </a:xfrm>
          <a:prstGeom xmlns:a="http://schemas.openxmlformats.org/drawingml/2006/main" prst="straightConnector1">
            <a:avLst/>
          </a:prstGeom>
          <a:ln xmlns:a="http://schemas.openxmlformats.org/drawingml/2006/main" w="19050">
            <a:solidFill>
              <a:srgbClr val="0F62FE"/>
            </a:solidFill>
            <a:prstDash val="solid"/>
            <a:tailEnd type="triangle" w="med" len="med"/>
          </a:ln>
        </p:spPr>
      </p:cxnSp>
      <p:cxnSp>
        <p:nvCxnSpPr>
          <p:cNvPr id="60" name=""/>
          <p:cNvCxnSpPr>
            <a:stCxn xmlns:a="http://schemas.openxmlformats.org/drawingml/2006/main" id="8" idx="3"/>
            <a:endCxn xmlns:a="http://schemas.openxmlformats.org/drawingml/2006/main" id="11" idx="1"/>
          </p:cNvCxnSpPr>
          <p:nvPr/>
        </p:nvCxnSpPr>
        <p:spPr>
          <a:xfrm xmlns:a="http://schemas.openxmlformats.org/drawingml/2006/main">
            <a:off x="5867400" y="2814638"/>
            <a:ext cx="457200" cy="0"/>
          </a:xfrm>
          <a:prstGeom xmlns:a="http://schemas.openxmlformats.org/drawingml/2006/main" prst="straightConnector1">
            <a:avLst/>
          </a:prstGeom>
          <a:ln xmlns:a="http://schemas.openxmlformats.org/drawingml/2006/main" w="19050">
            <a:solidFill>
              <a:srgbClr val="0F62FE"/>
            </a:solidFill>
            <a:prstDash val="solid"/>
            <a:tailEnd type="triangle" w="med" len="med"/>
          </a:ln>
        </p:spPr>
      </p:cxnSp>
      <p:cxnSp>
        <p:nvCxnSpPr>
          <p:cNvPr id="61" name=""/>
          <p:cNvCxnSpPr>
            <a:stCxn xmlns:a="http://schemas.openxmlformats.org/drawingml/2006/main" id="11" idx="3"/>
            <a:endCxn xmlns:a="http://schemas.openxmlformats.org/drawingml/2006/main" id="14" idx="1"/>
          </p:cNvCxnSpPr>
          <p:nvPr/>
        </p:nvCxnSpPr>
        <p:spPr>
          <a:xfrm xmlns:a="http://schemas.openxmlformats.org/drawingml/2006/main">
            <a:off x="8724900" y="2814638"/>
            <a:ext cx="457200" cy="0"/>
          </a:xfrm>
          <a:prstGeom xmlns:a="http://schemas.openxmlformats.org/drawingml/2006/main" prst="straightConnector1">
            <a:avLst/>
          </a:prstGeom>
          <a:ln xmlns:a="http://schemas.openxmlformats.org/drawingml/2006/main" w="19050">
            <a:solidFill>
              <a:srgbClr val="0F62FE"/>
            </a:solidFill>
            <a:prstDash val="solid"/>
            <a:tailEnd type="triangle" w="med" len="med"/>
          </a:ln>
        </p:spPr>
      </p:cxnSp>
      <p:cxnSp>
        <p:nvCxnSpPr>
          <p:cNvPr id="62" name=""/>
          <p:cNvCxnSpPr>
            <a:stCxn xmlns:a="http://schemas.openxmlformats.org/drawingml/2006/main" id="14" idx="2"/>
            <a:endCxn xmlns:a="http://schemas.openxmlformats.org/drawingml/2006/main" id="23" idx="0"/>
          </p:cNvCxnSpPr>
          <p:nvPr/>
        </p:nvCxnSpPr>
        <p:spPr>
          <a:xfrm xmlns:a="http://schemas.openxmlformats.org/drawingml/2006/main">
            <a:off x="10382250" y="3648075"/>
            <a:ext cx="0" cy="733425"/>
          </a:xfrm>
          <a:prstGeom xmlns:a="http://schemas.openxmlformats.org/drawingml/2006/main" prst="straightConnector1">
            <a:avLst/>
          </a:prstGeom>
          <a:ln xmlns:a="http://schemas.openxmlformats.org/drawingml/2006/main" w="19050">
            <a:solidFill>
              <a:srgbClr val="0F62FE"/>
            </a:solidFill>
            <a:prstDash val="solid"/>
            <a:tailEnd type="triangle" w="med" len="med"/>
          </a:ln>
        </p:spPr>
      </p:cxnSp>
      <p:cxnSp>
        <p:nvCxnSpPr>
          <p:cNvPr id="63" name=""/>
          <p:cNvCxnSpPr>
            <a:stCxn xmlns:a="http://schemas.openxmlformats.org/drawingml/2006/main" id="23" idx="1"/>
            <a:endCxn xmlns:a="http://schemas.openxmlformats.org/drawingml/2006/main" id="20" idx="3"/>
          </p:cNvCxnSpPr>
          <p:nvPr/>
        </p:nvCxnSpPr>
        <p:spPr>
          <a:xfrm xmlns:a="http://schemas.openxmlformats.org/drawingml/2006/main" flipH="1">
            <a:off x="8229600" y="5072063"/>
            <a:ext cx="952500" cy="0"/>
          </a:xfrm>
          <a:prstGeom xmlns:a="http://schemas.openxmlformats.org/drawingml/2006/main" prst="straightConnector1">
            <a:avLst/>
          </a:prstGeom>
          <a:ln xmlns:a="http://schemas.openxmlformats.org/drawingml/2006/main" w="19050">
            <a:solidFill>
              <a:srgbClr val="0F62FE"/>
            </a:solidFill>
            <a:prstDash val="solid"/>
            <a:tailEnd type="triangle" w="med" len="med"/>
          </a:ln>
        </p:spPr>
      </p:cxnSp>
      <p:cxnSp>
        <p:nvCxnSpPr>
          <p:cNvPr id="64" name=""/>
          <p:cNvCxnSpPr>
            <a:stCxn xmlns:a="http://schemas.openxmlformats.org/drawingml/2006/main" id="17" idx="3"/>
            <a:endCxn xmlns:a="http://schemas.openxmlformats.org/drawingml/2006/main" id="20" idx="1"/>
          </p:cNvCxnSpPr>
          <p:nvPr/>
        </p:nvCxnSpPr>
        <p:spPr>
          <a:xfrm xmlns:a="http://schemas.openxmlformats.org/drawingml/2006/main">
            <a:off x="3467100" y="5072063"/>
            <a:ext cx="952500" cy="0"/>
          </a:xfrm>
          <a:prstGeom xmlns:a="http://schemas.openxmlformats.org/drawingml/2006/main" prst="straightConnector1">
            <a:avLst/>
          </a:prstGeom>
          <a:ln xmlns:a="http://schemas.openxmlformats.org/drawingml/2006/main" w="19050">
            <a:solidFill>
              <a:srgbClr val="526377"/>
            </a:solidFill>
            <a:prstDash val="dash"/>
            <a:tailEnd type="triangle" w="med" len="med"/>
          </a:ln>
        </p:spPr>
      </p:cxnSp>
      <p:cxnSp>
        <p:nvCxnSpPr>
          <p:cNvPr id="65" name=""/>
          <p:cNvCxnSpPr>
            <a:stCxn xmlns:a="http://schemas.openxmlformats.org/drawingml/2006/main" id="8" idx="2"/>
            <a:endCxn xmlns:a="http://schemas.openxmlformats.org/drawingml/2006/main" id="17" idx="0"/>
          </p:cNvCxnSpPr>
          <p:nvPr/>
        </p:nvCxnSpPr>
        <p:spPr>
          <a:xfrm xmlns:a="http://schemas.openxmlformats.org/drawingml/2006/main" flipH="1">
            <a:off x="2038350" y="3648075"/>
            <a:ext cx="2628900" cy="733425"/>
          </a:xfrm>
          <a:prstGeom xmlns:a="http://schemas.openxmlformats.org/drawingml/2006/main" prst="bentConnector4">
            <a:avLst>
              <a:gd name="adj1" fmla="val 0"/>
              <a:gd name="adj2" fmla="val 50000"/>
            </a:avLst>
          </a:prstGeom>
          <a:ln xmlns:a="http://schemas.openxmlformats.org/drawingml/2006/main" w="19050">
            <a:solidFill>
              <a:srgbClr val="526377"/>
            </a:solidFill>
            <a:prstDash val="dash"/>
            <a:tailEnd type="triangle" w="med" len="med"/>
          </a:ln>
        </p:spPr>
      </p:cxnSp>
      <p:sp>
        <p:nvSpPr>
          <p:cNvPr id="33" name="">
            <a:extLst xmlns:a="http://schemas.openxmlformats.org/drawingml/2006/main">
              <a:ext uri="{FF2B5EF4-FFF2-40B4-BE49-F238E27FC236}">
                <a16:creationId xmlns:a16="http://schemas.microsoft.com/office/drawing/2014/main" id="{C2ABA010-4F56-4363-A83C-076E9BDD9D94}"/>
              </a:ext>
            </a:extLst>
          </p:cNvPr>
          <p:cNvSpPr>
            <a:spLocks xmlns:a="http://schemas.openxmlformats.org/drawingml/2006/main" noGrp="1"/>
          </p:cNvSpPr>
          <p:nvPr/>
        </p:nvSpPr>
        <p:spPr>
          <a:xfrm xmlns:a="http://schemas.openxmlformats.org/drawingml/2006/main">
            <a:off x="609600" y="5943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377"/>
                </a:solidFill>
                <a:latin typeface="Helvetica Neue"/>
                <a:ea typeface="Helvetica Neue"/>
                <a:cs typeface="Helvetica Neue"/>
              </a:defRPr>
            </a:pPr>
            <a:r>
              <a:rPr sz="1650" b="0">
                <a:solidFill>
                  <a:srgbClr val="526377"/>
                </a:solidFill>
                <a:latin typeface="Helvetica Neue"/>
                <a:ea typeface="Helvetica Neue"/>
                <a:cs typeface="Helvetica Neue"/>
              </a:rPr>
              <a:t>Ministral uses the fixed 500-response subset. Dashed paths show the human-review workflow.</a:t>
            </a:r>
          </a:p>
        </p:txBody>
      </p:sp>
    </p:spTree>
    <p:extLst>
      <p:ext uri="{BB962C8B-B14F-4D97-AF65-F5344CB8AC3E}">
        <p14:creationId xmlns:p14="http://schemas.microsoft.com/office/powerpoint/2010/main" val="4704994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5B5E0F-C7EC-4E57-958C-CC436943356E}"/>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IMPLEMENTATION: sarvam_30b_judge/</a:t>
            </a:r>
          </a:p>
        </p:txBody>
      </p:sp>
      <p:sp>
        <p:nvSpPr>
          <p:cNvPr id="2" name="">
            <a:extLst xmlns:a="http://schemas.openxmlformats.org/drawingml/2006/main">
              <a:ext uri="{FF2B5EF4-FFF2-40B4-BE49-F238E27FC236}">
                <a16:creationId xmlns:a16="http://schemas.microsoft.com/office/drawing/2014/main" id="{65DF36E4-AA19-469D-AF84-AE69104D71D6}"/>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One Sarvam script per language</a:t>
            </a:r>
          </a:p>
        </p:txBody>
      </p:sp>
      <p:sp>
        <p:nvSpPr>
          <p:cNvPr id="3" name="">
            <a:extLst xmlns:a="http://schemas.openxmlformats.org/drawingml/2006/main">
              <a:ext uri="{FF2B5EF4-FFF2-40B4-BE49-F238E27FC236}">
                <a16:creationId xmlns:a16="http://schemas.microsoft.com/office/drawing/2014/main" id="{5F5E3943-BA55-4805-90D0-3887F375169B}"/>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1023BF29-435E-4CBB-8333-F3CAC55C16A5}"/>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609600" y="1809750"/>
          <a:ext xmlns:a="http://schemas.openxmlformats.org/drawingml/2006/main" cx="10972800" cy="3876675"/>
        </p:xfrm>
        <a:graphic xmlns:a="http://schemas.openxmlformats.org/drawingml/2006/main">
          <a:graphicData uri="http://schemas.openxmlformats.org/drawingml/2006/table">
            <a:tbl>
              <a:tblPr/>
              <a:tblGrid>
                <a:gridCol w="5257800"/>
                <a:gridCol w="2000250"/>
                <a:gridCol w="2000250"/>
                <a:gridCol w="1714500"/>
              </a:tblGrid>
              <a:tr h="352425">
                <a:tc>
                  <a:txBody>
                    <a:bodyPr>
                      <a:noAutofit/>
                    </a:bodyPr>
                    <a:lstStyle/>
                    <a:p>
                      <a:r>
                        <a:rPr sz="1650" b="1">
                          <a:solidFill>
                            <a:srgbClr val="0F62FE"/>
                          </a:solidFill>
                          <a:latin typeface="Helvetica Neue"/>
                          <a:ea typeface="Helvetica Neue"/>
                          <a:cs typeface="Helvetica Neue"/>
                        </a:rPr>
                        <a:t>Script</a:t>
                      </a:r>
                    </a:p>
                  </a:txBody>
                  <a:tcPr marL="133350" marR="133350" marT="19050" marB="19050" anchor="ctr">
                    <a:solidFill>
                      <a:srgbClr val="FFFFFF"/>
                    </a:solidFill>
                  </a:tcPr>
                </a:tc>
                <a:tc>
                  <a:txBody>
                    <a:bodyPr>
                      <a:noAutofit/>
                    </a:bodyPr>
                    <a:lstStyle/>
                    <a:p>
                      <a:r>
                        <a:rPr sz="1650" b="1">
                          <a:solidFill>
                            <a:srgbClr val="0F62FE"/>
                          </a:solidFill>
                          <a:latin typeface="Helvetica Neue"/>
                          <a:ea typeface="Helvetica Neue"/>
                          <a:cs typeface="Helvetica Neue"/>
                        </a:rPr>
                        <a:t>Language</a:t>
                      </a:r>
                    </a:p>
                  </a:txBody>
                  <a:tcPr marL="133350" marR="133350" marT="19050" marB="19050" anchor="ctr">
                    <a:solidFill>
                      <a:srgbClr val="FFFFFF"/>
                    </a:solidFill>
                  </a:tcPr>
                </a:tc>
                <a:tc>
                  <a:txBody>
                    <a:bodyPr>
                      <a:noAutofit/>
                    </a:bodyPr>
                    <a:lstStyle/>
                    <a:p>
                      <a:r>
                        <a:rPr sz="1650" b="1">
                          <a:solidFill>
                            <a:srgbClr val="0F62FE"/>
                          </a:solidFill>
                          <a:latin typeface="Helvetica Neue"/>
                          <a:ea typeface="Helvetica Neue"/>
                          <a:cs typeface="Helvetica Neue"/>
                        </a:rPr>
                        <a:t>Input models</a:t>
                      </a:r>
                    </a:p>
                  </a:txBody>
                  <a:tcPr marL="133350" marR="133350" marT="19050" marB="19050" anchor="ctr">
                    <a:solidFill>
                      <a:srgbClr val="FFFFFF"/>
                    </a:solidFill>
                  </a:tcPr>
                </a:tc>
                <a:tc>
                  <a:txBody>
                    <a:bodyPr>
                      <a:noAutofit/>
                    </a:bodyPr>
                    <a:lstStyle/>
                    <a:p>
                      <a:r>
                        <a:rPr sz="1650" b="1">
                          <a:solidFill>
                            <a:srgbClr val="0F62FE"/>
                          </a:solidFill>
                          <a:latin typeface="Helvetica Neue"/>
                          <a:ea typeface="Helvetica Neue"/>
                          <a:cs typeface="Helvetica Neue"/>
                        </a:rPr>
                        <a:t>Responses</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sarvam_judge_gujarati.py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Gujarati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sarvam_judge_hindi.py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Hindi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sarvam_judge_kannada.py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Kannada</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sarvam_judge_malayalam.py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Malayalam</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sarvam_judge_marathi.py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Marathi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sarvam_judge_odia.py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Odia</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sarvam_judge_punjabi.py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Punjabi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sarvam_judge_tamil.py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Tamil</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sarvam_judge_bengali.py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Bengali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sarvam_judge_telugu.py</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Telugu</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26B + 31B</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500</a:t>
                      </a:r>
                    </a:p>
                  </a:txBody>
                  <a:tcPr marL="133350" marR="1333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664B29E-1B17-4C71-B391-E5722E3503EF}"/>
              </a:ext>
            </a:extLst>
          </p:cNvPr>
          <p:cNvSpPr>
            <a:spLocks xmlns:a="http://schemas.openxmlformats.org/drawingml/2006/main" noGrp="1"/>
          </p:cNvSpPr>
          <p:nvPr/>
        </p:nvSpPr>
        <p:spPr>
          <a:xfrm xmlns:a="http://schemas.openxmlformats.org/drawingml/2006/main">
            <a:off x="609600" y="58864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All 20 input CSVs: 10 languages × 2 candidate models = 5,000 responses.</a:t>
            </a:r>
          </a:p>
        </p:txBody>
      </p:sp>
    </p:spTree>
    <p:extLst>
      <p:ext uri="{BB962C8B-B14F-4D97-AF65-F5344CB8AC3E}">
        <p14:creationId xmlns:p14="http://schemas.microsoft.com/office/powerpoint/2010/main" val="6960679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4C42C81-4499-4790-A3DE-244B08EE570F}"/>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COVERAGE AT 30 SEPTEMBER 2026</a:t>
            </a:r>
          </a:p>
        </p:txBody>
      </p:sp>
      <p:sp>
        <p:nvSpPr>
          <p:cNvPr id="2" name="">
            <a:extLst xmlns:a="http://schemas.openxmlformats.org/drawingml/2006/main">
              <a:ext uri="{FF2B5EF4-FFF2-40B4-BE49-F238E27FC236}">
                <a16:creationId xmlns:a16="http://schemas.microsoft.com/office/drawing/2014/main" id="{F08C632A-DC7A-4CFF-AE00-2AF2F934C338}"/>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Three LLM judges, one evaluation rubric</a:t>
            </a:r>
          </a:p>
        </p:txBody>
      </p:sp>
      <p:sp>
        <p:nvSpPr>
          <p:cNvPr id="3" name="">
            <a:extLst xmlns:a="http://schemas.openxmlformats.org/drawingml/2006/main">
              <a:ext uri="{FF2B5EF4-FFF2-40B4-BE49-F238E27FC236}">
                <a16:creationId xmlns:a16="http://schemas.microsoft.com/office/drawing/2014/main" id="{1883E654-3EBA-475A-A088-D47238DA6B03}"/>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64CFDC89-886B-4123-B952-5E7E0BC8F8CE}"/>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ab1f907137a45da"/>
          <a:stretch xmlns:a="http://schemas.openxmlformats.org/drawingml/2006/main"/>
        </p:blipFill>
        <p:spPr>
          <a:xfrm xmlns:a="http://schemas.openxmlformats.org/drawingml/2006/main">
            <a:off x="1510767" y="1781175"/>
            <a:ext cx="1702866" cy="2314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A808DB-1780-4E60-B05D-3FAE1F275A1E}"/>
              </a:ext>
            </a:extLst>
          </p:cNvPr>
          <p:cNvSpPr>
            <a:spLocks xmlns:a="http://schemas.openxmlformats.org/drawingml/2006/main" noGrp="1"/>
          </p:cNvSpPr>
          <p:nvPr/>
        </p:nvSpPr>
        <p:spPr>
          <a:xfrm xmlns:a="http://schemas.openxmlformats.org/drawingml/2006/main">
            <a:off x="609600" y="42481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335"/>
                </a:solidFill>
                <a:latin typeface="Helvetica Neue"/>
                <a:ea typeface="Helvetica Neue"/>
                <a:cs typeface="Helvetica Neue"/>
              </a:defRPr>
            </a:pPr>
            <a:r>
              <a:rPr sz="1950" b="1">
                <a:solidFill>
                  <a:srgbClr val="142335"/>
                </a:solidFill>
                <a:latin typeface="Helvetica Neue"/>
                <a:ea typeface="Helvetica Neue"/>
                <a:cs typeface="Helvetica Neue"/>
              </a:rPr>
              <a:t>Sarvam-30B</a:t>
            </a:r>
          </a:p>
        </p:txBody>
      </p:sp>
      <p:sp>
        <p:nvSpPr>
          <p:cNvPr id="7" name="">
            <a:extLst xmlns:a="http://schemas.openxmlformats.org/drawingml/2006/main">
              <a:ext uri="{FF2B5EF4-FFF2-40B4-BE49-F238E27FC236}">
                <a16:creationId xmlns:a16="http://schemas.microsoft.com/office/drawing/2014/main" id="{9E9299E5-C4E0-42A6-B1B1-5A7588D0FC4A}"/>
              </a:ext>
            </a:extLst>
          </p:cNvPr>
          <p:cNvSpPr>
            <a:spLocks xmlns:a="http://schemas.openxmlformats.org/drawingml/2006/main" noGrp="1"/>
          </p:cNvSpPr>
          <p:nvPr/>
        </p:nvSpPr>
        <p:spPr>
          <a:xfrm xmlns:a="http://schemas.openxmlformats.org/drawingml/2006/main">
            <a:off x="609600" y="4772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F62FE"/>
                </a:solidFill>
                <a:latin typeface="Helvetica Neue"/>
                <a:ea typeface="Helvetica Neue"/>
                <a:cs typeface="Helvetica Neue"/>
              </a:defRPr>
            </a:pPr>
            <a:r>
              <a:rPr sz="2625" b="1">
                <a:solidFill>
                  <a:srgbClr val="0F62FE"/>
                </a:solidFill>
                <a:latin typeface="Helvetica Neue"/>
                <a:ea typeface="Helvetica Neue"/>
                <a:cs typeface="Helvetica Neue"/>
              </a:rPr>
              <a:t>5,000 / 5,000</a:t>
            </a:r>
          </a:p>
        </p:txBody>
      </p:sp>
      <p:sp>
        <p:nvSpPr>
          <p:cNvPr id="8" name="">
            <a:extLst xmlns:a="http://schemas.openxmlformats.org/drawingml/2006/main">
              <a:ext uri="{FF2B5EF4-FFF2-40B4-BE49-F238E27FC236}">
                <a16:creationId xmlns:a16="http://schemas.microsoft.com/office/drawing/2014/main" id="{06AC9804-31C9-4532-A543-FE5F1F181E88}"/>
              </a:ext>
            </a:extLst>
          </p:cNvPr>
          <p:cNvSpPr>
            <a:spLocks xmlns:a="http://schemas.openxmlformats.org/drawingml/2006/main" noGrp="1"/>
          </p:cNvSpPr>
          <p:nvPr/>
        </p:nvSpPr>
        <p:spPr>
          <a:xfrm xmlns:a="http://schemas.openxmlformats.org/drawingml/2006/main">
            <a:off x="609600" y="5305425"/>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377"/>
                </a:solidFill>
                <a:latin typeface="Helvetica Neue"/>
                <a:ea typeface="Helvetica Neue"/>
                <a:cs typeface="Helvetica Neue"/>
              </a:defRPr>
            </a:pPr>
            <a:r>
              <a:rPr sz="1725" b="0">
                <a:solidFill>
                  <a:srgbClr val="526377"/>
                </a:solidFill>
                <a:latin typeface="Helvetica Neue"/>
                <a:ea typeface="Helvetica Neue"/>
                <a:cs typeface="Helvetica Neue"/>
              </a:rPr>
              <a:t>50 questions per language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dde17e94066485d"/>
          <a:stretch xmlns:a="http://schemas.openxmlformats.org/drawingml/2006/main"/>
        </p:blipFill>
        <p:spPr>
          <a:xfrm xmlns:a="http://schemas.openxmlformats.org/drawingml/2006/main">
            <a:off x="4360069" y="1781175"/>
            <a:ext cx="3471863" cy="2314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32C9A1D-C4E7-4659-AD60-372AA4F9E052}"/>
              </a:ext>
            </a:extLst>
          </p:cNvPr>
          <p:cNvSpPr>
            <a:spLocks xmlns:a="http://schemas.openxmlformats.org/drawingml/2006/main" noGrp="1"/>
          </p:cNvSpPr>
          <p:nvPr/>
        </p:nvSpPr>
        <p:spPr>
          <a:xfrm xmlns:a="http://schemas.openxmlformats.org/drawingml/2006/main">
            <a:off x="4343400" y="42481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335"/>
                </a:solidFill>
                <a:latin typeface="Helvetica Neue"/>
                <a:ea typeface="Helvetica Neue"/>
                <a:cs typeface="Helvetica Neue"/>
              </a:defRPr>
            </a:pPr>
            <a:r>
              <a:rPr sz="1950" b="1">
                <a:solidFill>
                  <a:srgbClr val="142335"/>
                </a:solidFill>
                <a:latin typeface="Helvetica Neue"/>
                <a:ea typeface="Helvetica Neue"/>
                <a:cs typeface="Helvetica Neue"/>
              </a:rPr>
              <a:t>Qwen3-14B</a:t>
            </a:r>
          </a:p>
        </p:txBody>
      </p:sp>
      <p:sp>
        <p:nvSpPr>
          <p:cNvPr id="11" name="">
            <a:extLst xmlns:a="http://schemas.openxmlformats.org/drawingml/2006/main">
              <a:ext uri="{FF2B5EF4-FFF2-40B4-BE49-F238E27FC236}">
                <a16:creationId xmlns:a16="http://schemas.microsoft.com/office/drawing/2014/main" id="{03F840E7-DB08-4BCC-A5DE-7C9992627AF6}"/>
              </a:ext>
            </a:extLst>
          </p:cNvPr>
          <p:cNvSpPr>
            <a:spLocks xmlns:a="http://schemas.openxmlformats.org/drawingml/2006/main" noGrp="1"/>
          </p:cNvSpPr>
          <p:nvPr/>
        </p:nvSpPr>
        <p:spPr>
          <a:xfrm xmlns:a="http://schemas.openxmlformats.org/drawingml/2006/main">
            <a:off x="4343400" y="4772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F62FE"/>
                </a:solidFill>
                <a:latin typeface="Helvetica Neue"/>
                <a:ea typeface="Helvetica Neue"/>
                <a:cs typeface="Helvetica Neue"/>
              </a:defRPr>
            </a:pPr>
            <a:r>
              <a:rPr sz="2625" b="1">
                <a:solidFill>
                  <a:srgbClr val="0F62FE"/>
                </a:solidFill>
                <a:latin typeface="Helvetica Neue"/>
                <a:ea typeface="Helvetica Neue"/>
                <a:cs typeface="Helvetica Neue"/>
              </a:rPr>
              <a:t>5,000 / 5,000</a:t>
            </a:r>
          </a:p>
        </p:txBody>
      </p:sp>
      <p:sp>
        <p:nvSpPr>
          <p:cNvPr id="12" name="">
            <a:extLst xmlns:a="http://schemas.openxmlformats.org/drawingml/2006/main">
              <a:ext uri="{FF2B5EF4-FFF2-40B4-BE49-F238E27FC236}">
                <a16:creationId xmlns:a16="http://schemas.microsoft.com/office/drawing/2014/main" id="{28A7B571-A89C-46BD-BB7D-05EF43DD61F9}"/>
              </a:ext>
            </a:extLst>
          </p:cNvPr>
          <p:cNvSpPr>
            <a:spLocks xmlns:a="http://schemas.openxmlformats.org/drawingml/2006/main" noGrp="1"/>
          </p:cNvSpPr>
          <p:nvPr/>
        </p:nvSpPr>
        <p:spPr>
          <a:xfrm xmlns:a="http://schemas.openxmlformats.org/drawingml/2006/main">
            <a:off x="4343400" y="5305425"/>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377"/>
                </a:solidFill>
                <a:latin typeface="Helvetica Neue"/>
                <a:ea typeface="Helvetica Neue"/>
                <a:cs typeface="Helvetica Neue"/>
              </a:defRPr>
            </a:pPr>
            <a:r>
              <a:rPr sz="1725" b="0">
                <a:solidFill>
                  <a:srgbClr val="526377"/>
                </a:solidFill>
                <a:latin typeface="Helvetica Neue"/>
                <a:ea typeface="Helvetica Neue"/>
                <a:cs typeface="Helvetica Neue"/>
              </a:rPr>
              <a:t>50 questions per language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424baa7978a486a"/>
          <a:stretch xmlns:a="http://schemas.openxmlformats.org/drawingml/2006/main"/>
        </p:blipFill>
        <p:spPr>
          <a:xfrm xmlns:a="http://schemas.openxmlformats.org/drawingml/2006/main">
            <a:off x="8077200" y="1937209"/>
            <a:ext cx="3505200" cy="2002508"/>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2286FAC-A825-4620-8406-6119B669B951}"/>
              </a:ext>
            </a:extLst>
          </p:cNvPr>
          <p:cNvSpPr>
            <a:spLocks xmlns:a="http://schemas.openxmlformats.org/drawingml/2006/main" noGrp="1"/>
          </p:cNvSpPr>
          <p:nvPr/>
        </p:nvSpPr>
        <p:spPr>
          <a:xfrm xmlns:a="http://schemas.openxmlformats.org/drawingml/2006/main">
            <a:off x="8077200" y="42481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335"/>
                </a:solidFill>
                <a:latin typeface="Helvetica Neue"/>
                <a:ea typeface="Helvetica Neue"/>
                <a:cs typeface="Helvetica Neue"/>
              </a:defRPr>
            </a:pPr>
            <a:r>
              <a:rPr sz="1950" b="1">
                <a:solidFill>
                  <a:srgbClr val="142335"/>
                </a:solidFill>
                <a:latin typeface="Helvetica Neue"/>
                <a:ea typeface="Helvetica Neue"/>
                <a:cs typeface="Helvetica Neue"/>
              </a:rPr>
              <a:t>Ministral 3 8B Reasoning</a:t>
            </a:r>
          </a:p>
        </p:txBody>
      </p:sp>
      <p:sp>
        <p:nvSpPr>
          <p:cNvPr id="15" name="">
            <a:extLst xmlns:a="http://schemas.openxmlformats.org/drawingml/2006/main">
              <a:ext uri="{FF2B5EF4-FFF2-40B4-BE49-F238E27FC236}">
                <a16:creationId xmlns:a16="http://schemas.microsoft.com/office/drawing/2014/main" id="{25D62786-6B69-4BC6-BDB0-331044791DEA}"/>
              </a:ext>
            </a:extLst>
          </p:cNvPr>
          <p:cNvSpPr>
            <a:spLocks xmlns:a="http://schemas.openxmlformats.org/drawingml/2006/main" noGrp="1"/>
          </p:cNvSpPr>
          <p:nvPr/>
        </p:nvSpPr>
        <p:spPr>
          <a:xfrm xmlns:a="http://schemas.openxmlformats.org/drawingml/2006/main">
            <a:off x="8077200" y="4772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F62FE"/>
                </a:solidFill>
                <a:latin typeface="Helvetica Neue"/>
                <a:ea typeface="Helvetica Neue"/>
                <a:cs typeface="Helvetica Neue"/>
              </a:defRPr>
            </a:pPr>
            <a:r>
              <a:rPr sz="2625" b="1">
                <a:solidFill>
                  <a:srgbClr val="0F62FE"/>
                </a:solidFill>
                <a:latin typeface="Helvetica Neue"/>
                <a:ea typeface="Helvetica Neue"/>
                <a:cs typeface="Helvetica Neue"/>
              </a:rPr>
              <a:t>500 / 500</a:t>
            </a:r>
          </a:p>
        </p:txBody>
      </p:sp>
      <p:sp>
        <p:nvSpPr>
          <p:cNvPr id="16" name="">
            <a:extLst xmlns:a="http://schemas.openxmlformats.org/drawingml/2006/main">
              <a:ext uri="{FF2B5EF4-FFF2-40B4-BE49-F238E27FC236}">
                <a16:creationId xmlns:a16="http://schemas.microsoft.com/office/drawing/2014/main" id="{7177EF72-8DE1-46A5-B180-43DE545C957C}"/>
              </a:ext>
            </a:extLst>
          </p:cNvPr>
          <p:cNvSpPr>
            <a:spLocks xmlns:a="http://schemas.openxmlformats.org/drawingml/2006/main" noGrp="1"/>
          </p:cNvSpPr>
          <p:nvPr/>
        </p:nvSpPr>
        <p:spPr>
          <a:xfrm xmlns:a="http://schemas.openxmlformats.org/drawingml/2006/main">
            <a:off x="8077200" y="5305425"/>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377"/>
                </a:solidFill>
                <a:latin typeface="Helvetica Neue"/>
                <a:ea typeface="Helvetica Neue"/>
                <a:cs typeface="Helvetica Neue"/>
              </a:defRPr>
            </a:pPr>
            <a:r>
              <a:rPr sz="1725" b="0">
                <a:solidFill>
                  <a:srgbClr val="526377"/>
                </a:solidFill>
                <a:latin typeface="Helvetica Neue"/>
                <a:ea typeface="Helvetica Neue"/>
                <a:cs typeface="Helvetica Neue"/>
              </a:rPr>
              <a:t>5 questions per language</a:t>
            </a:r>
          </a:p>
        </p:txBody>
      </p:sp>
      <p:sp>
        <p:nvSpPr>
          <p:cNvPr id="17" name="">
            <a:extLst xmlns:a="http://schemas.openxmlformats.org/drawingml/2006/main">
              <a:ext uri="{FF2B5EF4-FFF2-40B4-BE49-F238E27FC236}">
                <a16:creationId xmlns:a16="http://schemas.microsoft.com/office/drawing/2014/main" id="{3AFD0E05-4C81-4A4A-B8C5-7E4986CCA28B}"/>
              </a:ext>
            </a:extLst>
          </p:cNvPr>
          <p:cNvSpPr>
            <a:spLocks xmlns:a="http://schemas.openxmlformats.org/drawingml/2006/main" noGrp="1"/>
          </p:cNvSpPr>
          <p:nvPr/>
        </p:nvSpPr>
        <p:spPr>
          <a:xfrm xmlns:a="http://schemas.openxmlformats.org/drawingml/2006/main">
            <a:off x="609600" y="5905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377"/>
                </a:solidFill>
                <a:latin typeface="Helvetica Neue"/>
                <a:ea typeface="Helvetica Neue"/>
                <a:cs typeface="Helvetica Neue"/>
              </a:defRPr>
            </a:pPr>
            <a:r>
              <a:rPr sz="1650" b="0">
                <a:solidFill>
                  <a:srgbClr val="526377"/>
                </a:solidFill>
                <a:latin typeface="Helvetica Neue"/>
                <a:ea typeface="Helvetica Neue"/>
                <a:cs typeface="Helvetica Neue"/>
              </a:rPr>
              <a:t>Saved / planned judgments across all 10 languages. Images are illustrative, not model logos.</a:t>
            </a:r>
          </a:p>
        </p:txBody>
      </p:sp>
    </p:spTree>
    <p:extLst>
      <p:ext uri="{BB962C8B-B14F-4D97-AF65-F5344CB8AC3E}">
        <p14:creationId xmlns:p14="http://schemas.microsoft.com/office/powerpoint/2010/main" val="18408076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C9BD46-1CC2-4D86-BFFF-DC961BF57FE7}"/>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EXPERIMENT OUTPUT</a:t>
            </a:r>
          </a:p>
        </p:txBody>
      </p:sp>
      <p:sp>
        <p:nvSpPr>
          <p:cNvPr id="2" name="">
            <a:extLst xmlns:a="http://schemas.openxmlformats.org/drawingml/2006/main">
              <a:ext uri="{FF2B5EF4-FFF2-40B4-BE49-F238E27FC236}">
                <a16:creationId xmlns:a16="http://schemas.microsoft.com/office/drawing/2014/main" id="{6326CF4C-DC5C-4AF0-8AFA-F3A64B8ECC04}"/>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Sarvam-30B output example</a:t>
            </a:r>
          </a:p>
        </p:txBody>
      </p:sp>
      <p:sp>
        <p:nvSpPr>
          <p:cNvPr id="3" name="">
            <a:extLst xmlns:a="http://schemas.openxmlformats.org/drawingml/2006/main">
              <a:ext uri="{FF2B5EF4-FFF2-40B4-BE49-F238E27FC236}">
                <a16:creationId xmlns:a16="http://schemas.microsoft.com/office/drawing/2014/main" id="{D9AF7F55-AB19-4FAA-838D-9EFB3B846586}"/>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1A76510A-9A1C-41E4-A9A9-4D1832B8AC69}"/>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1baf63063b84f2b"/>
          <a:stretch xmlns:a="http://schemas.openxmlformats.org/drawingml/2006/main"/>
        </p:blipFill>
        <p:spPr>
          <a:xfrm xmlns:a="http://schemas.openxmlformats.org/drawingml/2006/main">
            <a:off x="2448910" y="1619250"/>
            <a:ext cx="7294181"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3EBF9A-4031-4913-B0EB-55B318081A9B}"/>
              </a:ext>
            </a:extLst>
          </p:cNvPr>
          <p:cNvSpPr>
            <a:spLocks xmlns:a="http://schemas.openxmlformats.org/drawingml/2006/main" noGrp="1"/>
          </p:cNvSpPr>
          <p:nvPr/>
        </p:nvSpPr>
        <p:spPr>
          <a:xfrm xmlns:a="http://schemas.openxmlformats.org/drawingml/2006/main">
            <a:off x="609600" y="6000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377"/>
                </a:solidFill>
                <a:latin typeface="Helvetica Neue"/>
                <a:ea typeface="Helvetica Neue"/>
                <a:cs typeface="Helvetica Neue"/>
              </a:defRPr>
            </a:pPr>
            <a:r>
              <a:rPr sz="1650" b="0">
                <a:solidFill>
                  <a:srgbClr val="526377"/>
                </a:solidFill>
                <a:latin typeface="Helvetica Neue"/>
                <a:ea typeface="Helvetica Neue"/>
                <a:cs typeface="Helvetica Neue"/>
              </a:rPr>
              <a:t>Bengali example. Saved rows include scores, justification and raw judge output.</a:t>
            </a:r>
          </a:p>
        </p:txBody>
      </p:sp>
    </p:spTree>
    <p:extLst>
      <p:ext uri="{BB962C8B-B14F-4D97-AF65-F5344CB8AC3E}">
        <p14:creationId xmlns:p14="http://schemas.microsoft.com/office/powerpoint/2010/main" val="7362610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FA88F8-9E44-40C3-83DF-10D6A24449B7}"/>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EXPERIMENT OUTPUT</a:t>
            </a:r>
          </a:p>
        </p:txBody>
      </p:sp>
      <p:sp>
        <p:nvSpPr>
          <p:cNvPr id="2" name="">
            <a:extLst xmlns:a="http://schemas.openxmlformats.org/drawingml/2006/main">
              <a:ext uri="{FF2B5EF4-FFF2-40B4-BE49-F238E27FC236}">
                <a16:creationId xmlns:a16="http://schemas.microsoft.com/office/drawing/2014/main" id="{82DE7BA0-DE09-4756-8A3E-C5817C74C880}"/>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Qwen3-14B output example</a:t>
            </a:r>
          </a:p>
        </p:txBody>
      </p:sp>
      <p:sp>
        <p:nvSpPr>
          <p:cNvPr id="3" name="">
            <a:extLst xmlns:a="http://schemas.openxmlformats.org/drawingml/2006/main">
              <a:ext uri="{FF2B5EF4-FFF2-40B4-BE49-F238E27FC236}">
                <a16:creationId xmlns:a16="http://schemas.microsoft.com/office/drawing/2014/main" id="{A352282F-661C-4EF2-A230-4D58622B0933}"/>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92C3D96F-60A4-4A8A-AD65-91A0C127157D}"/>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3eaf28e462c4881"/>
          <a:stretch xmlns:a="http://schemas.openxmlformats.org/drawingml/2006/main"/>
        </p:blipFill>
        <p:spPr>
          <a:xfrm xmlns:a="http://schemas.openxmlformats.org/drawingml/2006/main">
            <a:off x="2441393" y="1619250"/>
            <a:ext cx="7309215"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DD92D3-E1CC-4219-9C47-91C1CA1EA466}"/>
              </a:ext>
            </a:extLst>
          </p:cNvPr>
          <p:cNvSpPr>
            <a:spLocks xmlns:a="http://schemas.openxmlformats.org/drawingml/2006/main" noGrp="1"/>
          </p:cNvSpPr>
          <p:nvPr/>
        </p:nvSpPr>
        <p:spPr>
          <a:xfrm xmlns:a="http://schemas.openxmlformats.org/drawingml/2006/main">
            <a:off x="609600" y="6000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377"/>
                </a:solidFill>
                <a:latin typeface="Helvetica Neue"/>
                <a:ea typeface="Helvetica Neue"/>
                <a:cs typeface="Helvetica Neue"/>
              </a:defRPr>
            </a:pPr>
            <a:r>
              <a:rPr sz="1650" b="0">
                <a:solidFill>
                  <a:srgbClr val="526377"/>
                </a:solidFill>
                <a:latin typeface="Helvetica Neue"/>
                <a:ea typeface="Helvetica Neue"/>
                <a:cs typeface="Helvetica Neue"/>
              </a:rPr>
              <a:t>Bengali example. The same output columns support comparisons on matching responses.</a:t>
            </a:r>
          </a:p>
        </p:txBody>
      </p:sp>
    </p:spTree>
    <p:extLst>
      <p:ext uri="{BB962C8B-B14F-4D97-AF65-F5344CB8AC3E}">
        <p14:creationId xmlns:p14="http://schemas.microsoft.com/office/powerpoint/2010/main" val="16522099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CE749E-659E-40F5-990C-F45399E11C38}"/>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EXPERIMENT OUTPUT</a:t>
            </a:r>
          </a:p>
        </p:txBody>
      </p:sp>
      <p:sp>
        <p:nvSpPr>
          <p:cNvPr id="2" name="">
            <a:extLst xmlns:a="http://schemas.openxmlformats.org/drawingml/2006/main">
              <a:ext uri="{FF2B5EF4-FFF2-40B4-BE49-F238E27FC236}">
                <a16:creationId xmlns:a16="http://schemas.microsoft.com/office/drawing/2014/main" id="{89BC5566-A615-4096-AE32-9D2110DC01DA}"/>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Ministral 3 8B Reasoning output example</a:t>
            </a:r>
          </a:p>
        </p:txBody>
      </p:sp>
      <p:sp>
        <p:nvSpPr>
          <p:cNvPr id="3" name="">
            <a:extLst xmlns:a="http://schemas.openxmlformats.org/drawingml/2006/main">
              <a:ext uri="{FF2B5EF4-FFF2-40B4-BE49-F238E27FC236}">
                <a16:creationId xmlns:a16="http://schemas.microsoft.com/office/drawing/2014/main" id="{153B898B-732A-445C-A519-506B09FA1575}"/>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7FBB1FC8-7E2B-42F4-B744-58B857BA8C2A}"/>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df8e06329fd4a3e"/>
          <a:stretch xmlns:a="http://schemas.openxmlformats.org/drawingml/2006/main"/>
        </p:blipFill>
        <p:spPr>
          <a:xfrm xmlns:a="http://schemas.openxmlformats.org/drawingml/2006/main">
            <a:off x="2488982" y="1619250"/>
            <a:ext cx="7214037"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C859EA-DA3A-4F21-894D-640F15B18782}"/>
              </a:ext>
            </a:extLst>
          </p:cNvPr>
          <p:cNvSpPr>
            <a:spLocks xmlns:a="http://schemas.openxmlformats.org/drawingml/2006/main" noGrp="1"/>
          </p:cNvSpPr>
          <p:nvPr/>
        </p:nvSpPr>
        <p:spPr>
          <a:xfrm xmlns:a="http://schemas.openxmlformats.org/drawingml/2006/main">
            <a:off x="609600" y="6000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377"/>
                </a:solidFill>
                <a:latin typeface="Helvetica Neue"/>
                <a:ea typeface="Helvetica Neue"/>
                <a:cs typeface="Helvetica Neue"/>
              </a:defRPr>
            </a:pPr>
            <a:r>
              <a:rPr sz="1650" b="0">
                <a:solidFill>
                  <a:srgbClr val="526377"/>
                </a:solidFill>
                <a:latin typeface="Helvetica Neue"/>
                <a:ea typeface="Helvetica Neue"/>
                <a:cs typeface="Helvetica Neue"/>
              </a:rPr>
              <a:t>Bengali subset example. Question IDs 1–5 appear for both candidate models.</a:t>
            </a:r>
          </a:p>
        </p:txBody>
      </p:sp>
    </p:spTree>
    <p:extLst>
      <p:ext uri="{BB962C8B-B14F-4D97-AF65-F5344CB8AC3E}">
        <p14:creationId xmlns:p14="http://schemas.microsoft.com/office/powerpoint/2010/main" val="3444384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799F74-830B-431A-9FE5-869E47123502}"/>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SHARE RATED CORRECT: 1,000 RESPONSES PER PROMPT</a:t>
            </a:r>
          </a:p>
        </p:txBody>
      </p:sp>
      <p:sp>
        <p:nvSpPr>
          <p:cNvPr id="2" name="">
            <a:extLst xmlns:a="http://schemas.openxmlformats.org/drawingml/2006/main">
              <a:ext uri="{FF2B5EF4-FFF2-40B4-BE49-F238E27FC236}">
                <a16:creationId xmlns:a16="http://schemas.microsoft.com/office/drawing/2014/main" id="{049BBE0C-922C-48C4-B431-5DA2D10A2F1C}"/>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Correctness ratings follow the prompt design</a:t>
            </a:r>
          </a:p>
        </p:txBody>
      </p:sp>
      <p:sp>
        <p:nvSpPr>
          <p:cNvPr id="3" name="">
            <a:extLst xmlns:a="http://schemas.openxmlformats.org/drawingml/2006/main">
              <a:ext uri="{FF2B5EF4-FFF2-40B4-BE49-F238E27FC236}">
                <a16:creationId xmlns:a16="http://schemas.microsoft.com/office/drawing/2014/main" id="{41846218-463E-4161-92FC-15ECDF825677}"/>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66907E9F-D201-411A-8E16-41AFF905305F}"/>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14</a:t>
            </a:r>
          </a:p>
        </p:txBody>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0051a9409f6a4d1f"/>
          </a:graphicData>
        </a:graphic>
      </p:graphicFrame>
      <p:sp>
        <p:nvSpPr>
          <p:cNvPr id="6" name="">
            <a:extLst xmlns:a="http://schemas.openxmlformats.org/drawingml/2006/main">
              <a:ext uri="{FF2B5EF4-FFF2-40B4-BE49-F238E27FC236}">
                <a16:creationId xmlns:a16="http://schemas.microsoft.com/office/drawing/2014/main" id="{11BD496A-E672-4A6B-95E9-F45CDF7109E8}"/>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P3 and P4 intentionally request wrong answers. Their low correctness is expected.</a:t>
            </a:r>
          </a:p>
        </p:txBody>
      </p:sp>
    </p:spTree>
    <p:extLst>
      <p:ext uri="{BB962C8B-B14F-4D97-AF65-F5344CB8AC3E}">
        <p14:creationId xmlns:p14="http://schemas.microsoft.com/office/powerpoint/2010/main" val="49337544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97F007-38B9-4E81-8163-92D38EADE7CB}"/>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FULL SET: MEAN REASONING SCORE, 0–5</a:t>
            </a:r>
          </a:p>
        </p:txBody>
      </p:sp>
      <p:sp>
        <p:nvSpPr>
          <p:cNvPr id="2" name="">
            <a:extLst xmlns:a="http://schemas.openxmlformats.org/drawingml/2006/main">
              <a:ext uri="{FF2B5EF4-FFF2-40B4-BE49-F238E27FC236}">
                <a16:creationId xmlns:a16="http://schemas.microsoft.com/office/drawing/2014/main" id="{86931E13-AEE1-49B9-8E33-CEE60FF81CF9}"/>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Qwen gives higher scores in four prompt groups</a:t>
            </a:r>
          </a:p>
        </p:txBody>
      </p:sp>
      <p:sp>
        <p:nvSpPr>
          <p:cNvPr id="3" name="">
            <a:extLst xmlns:a="http://schemas.openxmlformats.org/drawingml/2006/main">
              <a:ext uri="{FF2B5EF4-FFF2-40B4-BE49-F238E27FC236}">
                <a16:creationId xmlns:a16="http://schemas.microsoft.com/office/drawing/2014/main" id="{AD37393B-2F7C-427C-9CBD-E6F0079D5F25}"/>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E957CE82-C416-4958-8AC8-1AA88EA25C8B}"/>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15</a:t>
            </a:r>
          </a:p>
        </p:txBody>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5d3b4596ce9c4e2b"/>
          </a:graphicData>
        </a:graphic>
      </p:graphicFrame>
      <p:sp>
        <p:nvSpPr>
          <p:cNvPr id="6" name="">
            <a:extLst xmlns:a="http://schemas.openxmlformats.org/drawingml/2006/main">
              <a:ext uri="{FF2B5EF4-FFF2-40B4-BE49-F238E27FC236}">
                <a16:creationId xmlns:a16="http://schemas.microsoft.com/office/drawing/2014/main" id="{22D00B91-0FC9-498C-B5C5-22C85ED6DB17}"/>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Mean absolute difference is 0.82 points across all 5,000 paired scores.</a:t>
            </a:r>
          </a:p>
        </p:txBody>
      </p:sp>
    </p:spTree>
    <p:extLst>
      <p:ext uri="{BB962C8B-B14F-4D97-AF65-F5344CB8AC3E}">
        <p14:creationId xmlns:p14="http://schemas.microsoft.com/office/powerpoint/2010/main" val="15988942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3A237B-31F3-48A7-9E23-48DBC7FA0BF9}"/>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SARVAM AND QWEN: 500 PAIRED RESPONSES PER LANGUAGE</a:t>
            </a:r>
          </a:p>
        </p:txBody>
      </p:sp>
      <p:sp>
        <p:nvSpPr>
          <p:cNvPr id="2" name="">
            <a:extLst xmlns:a="http://schemas.openxmlformats.org/drawingml/2006/main">
              <a:ext uri="{FF2B5EF4-FFF2-40B4-BE49-F238E27FC236}">
                <a16:creationId xmlns:a16="http://schemas.microsoft.com/office/drawing/2014/main" id="{BEAD3A39-D633-4941-AD07-6F2FBA7F3066}"/>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Compliance agreement varies more by language</a:t>
            </a:r>
          </a:p>
        </p:txBody>
      </p:sp>
      <p:sp>
        <p:nvSpPr>
          <p:cNvPr id="3" name="">
            <a:extLst xmlns:a="http://schemas.openxmlformats.org/drawingml/2006/main">
              <a:ext uri="{FF2B5EF4-FFF2-40B4-BE49-F238E27FC236}">
                <a16:creationId xmlns:a16="http://schemas.microsoft.com/office/drawing/2014/main" id="{7950384F-268F-4DC6-92A3-39B462B02FC6}"/>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3C8A0BF7-2C2E-47EC-960B-EEDAE9728585}"/>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16</a:t>
            </a:r>
          </a:p>
        </p:txBody>
      </p:sp>
      <p:graphicFrame>
        <p:nvGraphicFramePr>
          <p:cNvPr id="11" name=""/>
          <p:cNvGraphicFramePr/>
          <p:nvPr/>
        </p:nvGraphicFramePr>
        <p:xfrm>
          <a:off xmlns:a="http://schemas.openxmlformats.org/drawingml/2006/main" x="609600" y="1809750"/>
          <a:ext xmlns:a="http://schemas.openxmlformats.org/drawingml/2006/main" cx="10972800" cy="3876675"/>
        </p:xfrm>
        <a:graphic xmlns:a="http://schemas.openxmlformats.org/drawingml/2006/main">
          <a:graphicData uri="http://schemas.openxmlformats.org/drawingml/2006/table">
            <a:tbl>
              <a:tblPr/>
              <a:tblGrid>
                <a:gridCol w="3619500"/>
                <a:gridCol w="3667125"/>
                <a:gridCol w="3686175"/>
              </a:tblGrid>
              <a:tr h="352425">
                <a:tc>
                  <a:txBody>
                    <a:bodyPr>
                      <a:noAutofit/>
                    </a:bodyPr>
                    <a:lstStyle/>
                    <a:p>
                      <a:r>
                        <a:rPr sz="1650" b="1">
                          <a:solidFill>
                            <a:srgbClr val="0F62FE"/>
                          </a:solidFill>
                          <a:latin typeface="Helvetica Neue"/>
                          <a:ea typeface="Helvetica Neue"/>
                          <a:cs typeface="Helvetica Neue"/>
                        </a:rPr>
                        <a:t>Language</a:t>
                      </a:r>
                    </a:p>
                  </a:txBody>
                  <a:tcPr marL="133350" marR="133350" marT="19050" marB="19050" anchor="ctr">
                    <a:solidFill>
                      <a:srgbClr val="FFFFFF"/>
                    </a:solidFill>
                  </a:tcPr>
                </a:tc>
                <a:tc>
                  <a:txBody>
                    <a:bodyPr>
                      <a:noAutofit/>
                    </a:bodyPr>
                    <a:lstStyle/>
                    <a:p>
                      <a:r>
                        <a:rPr sz="1650" b="1">
                          <a:solidFill>
                            <a:srgbClr val="0F62FE"/>
                          </a:solidFill>
                          <a:latin typeface="Helvetica Neue"/>
                          <a:ea typeface="Helvetica Neue"/>
                          <a:cs typeface="Helvetica Neue"/>
                        </a:rPr>
                        <a:t>Answer agreement</a:t>
                      </a:r>
                    </a:p>
                  </a:txBody>
                  <a:tcPr marL="133350" marR="133350" marT="19050" marB="19050" anchor="ctr">
                    <a:solidFill>
                      <a:srgbClr val="FFFFFF"/>
                    </a:solidFill>
                  </a:tcPr>
                </a:tc>
                <a:tc>
                  <a:txBody>
                    <a:bodyPr>
                      <a:noAutofit/>
                    </a:bodyPr>
                    <a:lstStyle/>
                    <a:p>
                      <a:r>
                        <a:rPr sz="1650" b="1">
                          <a:solidFill>
                            <a:srgbClr val="0F62FE"/>
                          </a:solidFill>
                          <a:latin typeface="Helvetica Neue"/>
                          <a:ea typeface="Helvetica Neue"/>
                          <a:cs typeface="Helvetica Neue"/>
                        </a:rPr>
                        <a:t>Compliance agreement</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Bengali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99.2%</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87.6%</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Gujarati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98.4%</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87.8%</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Hindi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97.6%</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86.4%</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Kannada</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98.0%</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89.8%</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Malayalam</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97.4%</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85.8%</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Marathi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98.8%</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87.4%</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Odia</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96.4%</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86.4%</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Punjabi</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97.8%</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84.0%</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Tamil</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97.6%</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84.4%</a:t>
                      </a:r>
                    </a:p>
                  </a:txBody>
                  <a:tcPr marL="133350" marR="133350" marT="19050" marB="19050" anchor="ctr">
                    <a:solidFill>
                      <a:srgbClr val="FFFFFF"/>
                    </a:solidFill>
                  </a:tcPr>
                </a:tc>
              </a:tr>
              <a:tr h="352425">
                <a:tc>
                  <a:txBody>
                    <a:bodyPr>
                      <a:noAutofit/>
                    </a:bodyPr>
                    <a:lstStyle/>
                    <a:p>
                      <a:r>
                        <a:rPr sz="1650" b="0">
                          <a:solidFill>
                            <a:srgbClr val="142335"/>
                          </a:solidFill>
                          <a:latin typeface="Helvetica Neue"/>
                          <a:ea typeface="Helvetica Neue"/>
                          <a:cs typeface="Helvetica Neue"/>
                        </a:rPr>
                        <a:t>Telugu</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98.4%</a:t>
                      </a:r>
                    </a:p>
                  </a:txBody>
                  <a:tcPr marL="133350" marR="133350" marT="19050" marB="19050" anchor="ctr">
                    <a:solidFill>
                      <a:srgbClr val="FFFFFF"/>
                    </a:solidFill>
                  </a:tcPr>
                </a:tc>
                <a:tc>
                  <a:txBody>
                    <a:bodyPr>
                      <a:noAutofit/>
                    </a:bodyPr>
                    <a:lstStyle/>
                    <a:p>
                      <a:r>
                        <a:rPr sz="1650" b="0">
                          <a:solidFill>
                            <a:srgbClr val="142335"/>
                          </a:solidFill>
                          <a:latin typeface="Helvetica Neue"/>
                          <a:ea typeface="Helvetica Neue"/>
                          <a:cs typeface="Helvetica Neue"/>
                        </a:rPr>
                        <a:t>87.2%</a:t>
                      </a:r>
                    </a:p>
                  </a:txBody>
                  <a:tcPr marL="133350" marR="1333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9498FE5-BF22-4684-8504-0B92EAE5841F}"/>
              </a:ext>
            </a:extLst>
          </p:cNvPr>
          <p:cNvSpPr>
            <a:spLocks xmlns:a="http://schemas.openxmlformats.org/drawingml/2006/main" noGrp="1"/>
          </p:cNvSpPr>
          <p:nvPr/>
        </p:nvSpPr>
        <p:spPr>
          <a:xfrm xmlns:a="http://schemas.openxmlformats.org/drawingml/2006/main">
            <a:off x="609600" y="58864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Overall agreement: 98.0% on correctness and 86.7% on compliance.</a:t>
            </a:r>
          </a:p>
        </p:txBody>
      </p:sp>
    </p:spTree>
    <p:extLst>
      <p:ext uri="{BB962C8B-B14F-4D97-AF65-F5344CB8AC3E}">
        <p14:creationId xmlns:p14="http://schemas.microsoft.com/office/powerpoint/2010/main" val="12213391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1F138F-9610-445C-B705-BE85E17C2F65}"/>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MATCHED FIRST-FIVE SUBSET</a:t>
            </a:r>
          </a:p>
        </p:txBody>
      </p:sp>
      <p:sp>
        <p:nvSpPr>
          <p:cNvPr id="2" name="">
            <a:extLst xmlns:a="http://schemas.openxmlformats.org/drawingml/2006/main">
              <a:ext uri="{FF2B5EF4-FFF2-40B4-BE49-F238E27FC236}">
                <a16:creationId xmlns:a16="http://schemas.microsoft.com/office/drawing/2014/main" id="{E8987E0F-0027-4B7F-8FE9-70FF1059DE89}"/>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Three judges compared on 500 shared responses</a:t>
            </a:r>
          </a:p>
        </p:txBody>
      </p:sp>
      <p:sp>
        <p:nvSpPr>
          <p:cNvPr id="3" name="">
            <a:extLst xmlns:a="http://schemas.openxmlformats.org/drawingml/2006/main">
              <a:ext uri="{FF2B5EF4-FFF2-40B4-BE49-F238E27FC236}">
                <a16:creationId xmlns:a16="http://schemas.microsoft.com/office/drawing/2014/main" id="{5EF4947A-90E0-474C-9A04-80B2B78879C2}"/>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50D8A79F-D5EC-4F73-906D-5C072371A263}"/>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17</a:t>
            </a:r>
          </a:p>
        </p:txBody>
      </p:sp>
      <p:graphicFrame>
        <p:nvGraphicFramePr>
          <p:cNvPr id="12" name=""/>
          <p:cNvGraphicFramePr/>
          <p:nvPr/>
        </p:nvGraphicFramePr>
        <p:xfrm>
          <a:off xmlns:a="http://schemas.openxmlformats.org/drawingml/2006/main" x="609600" y="1905000"/>
          <a:ext xmlns:a="http://schemas.openxmlformats.org/drawingml/2006/main" cx="10972800" cy="2952750"/>
        </p:xfrm>
        <a:graphic xmlns:a="http://schemas.openxmlformats.org/drawingml/2006/main">
          <a:graphicData uri="http://schemas.openxmlformats.org/drawingml/2006/table">
            <a:tbl>
              <a:tblPr/>
              <a:tblGrid>
                <a:gridCol w="3857625"/>
                <a:gridCol w="2371725"/>
                <a:gridCol w="2371725"/>
                <a:gridCol w="2371725"/>
              </a:tblGrid>
              <a:tr h="738188">
                <a:tc>
                  <a:txBody>
                    <a:bodyPr>
                      <a:noAutofit/>
                    </a:bodyPr>
                    <a:lstStyle/>
                    <a:p>
                      <a:r>
                        <a:rPr sz="1950" b="1">
                          <a:solidFill>
                            <a:srgbClr val="0F62FE"/>
                          </a:solidFill>
                          <a:latin typeface="Helvetica Neue"/>
                          <a:ea typeface="Helvetica Neue"/>
                          <a:cs typeface="Helvetica Neue"/>
                        </a:rPr>
                        <a:t>Judge pair</a:t>
                      </a:r>
                    </a:p>
                  </a:txBody>
                  <a:tcPr marL="133350" marR="133350" marT="95250" marB="95250" anchor="ctr">
                    <a:solidFill>
                      <a:srgbClr val="FFFFFF"/>
                    </a:solidFill>
                  </a:tcPr>
                </a:tc>
                <a:tc>
                  <a:txBody>
                    <a:bodyPr>
                      <a:noAutofit/>
                    </a:bodyPr>
                    <a:lstStyle/>
                    <a:p>
                      <a:r>
                        <a:rPr sz="1950" b="1">
                          <a:solidFill>
                            <a:srgbClr val="0F62FE"/>
                          </a:solidFill>
                          <a:latin typeface="Helvetica Neue"/>
                          <a:ea typeface="Helvetica Neue"/>
                          <a:cs typeface="Helvetica Neue"/>
                        </a:rPr>
                        <a:t>Answer</a:t>
                      </a:r>
                    </a:p>
                    <a:p>
                      <a:r>
                        <a:rPr sz="1950" b="1">
                          <a:solidFill>
                            <a:srgbClr val="0F62FE"/>
                          </a:solidFill>
                          <a:latin typeface="Helvetica Neue"/>
                          <a:ea typeface="Helvetica Neue"/>
                          <a:cs typeface="Helvetica Neue"/>
                        </a:rPr>
                        <a:t>agreement</a:t>
                      </a:r>
                    </a:p>
                  </a:txBody>
                  <a:tcPr marL="133350" marR="133350" marT="95250" marB="95250" anchor="ctr">
                    <a:solidFill>
                      <a:srgbClr val="FFFFFF"/>
                    </a:solidFill>
                  </a:tcPr>
                </a:tc>
                <a:tc>
                  <a:txBody>
                    <a:bodyPr>
                      <a:noAutofit/>
                    </a:bodyPr>
                    <a:lstStyle/>
                    <a:p>
                      <a:r>
                        <a:rPr sz="1950" b="1">
                          <a:solidFill>
                            <a:srgbClr val="0F62FE"/>
                          </a:solidFill>
                          <a:latin typeface="Helvetica Neue"/>
                          <a:ea typeface="Helvetica Neue"/>
                          <a:cs typeface="Helvetica Neue"/>
                        </a:rPr>
                        <a:t>Compliance</a:t>
                      </a:r>
                    </a:p>
                    <a:p>
                      <a:r>
                        <a:rPr sz="1950" b="1">
                          <a:solidFill>
                            <a:srgbClr val="0F62FE"/>
                          </a:solidFill>
                          <a:latin typeface="Helvetica Neue"/>
                          <a:ea typeface="Helvetica Neue"/>
                          <a:cs typeface="Helvetica Neue"/>
                        </a:rPr>
                        <a:t>agreement</a:t>
                      </a:r>
                    </a:p>
                  </a:txBody>
                  <a:tcPr marL="133350" marR="133350" marT="95250" marB="95250" anchor="ctr">
                    <a:solidFill>
                      <a:srgbClr val="FFFFFF"/>
                    </a:solidFill>
                  </a:tcPr>
                </a:tc>
                <a:tc>
                  <a:txBody>
                    <a:bodyPr>
                      <a:noAutofit/>
                    </a:bodyPr>
                    <a:lstStyle/>
                    <a:p>
                      <a:r>
                        <a:rPr sz="1950" b="1">
                          <a:solidFill>
                            <a:srgbClr val="0F62FE"/>
                          </a:solidFill>
                          <a:latin typeface="Helvetica Neue"/>
                          <a:ea typeface="Helvetica Neue"/>
                          <a:cs typeface="Helvetica Neue"/>
                        </a:rPr>
                        <a:t>Reasoning</a:t>
                      </a:r>
                    </a:p>
                    <a:p>
                      <a:r>
                        <a:rPr sz="1950" b="1">
                          <a:solidFill>
                            <a:srgbClr val="0F62FE"/>
                          </a:solidFill>
                          <a:latin typeface="Helvetica Neue"/>
                          <a:ea typeface="Helvetica Neue"/>
                          <a:cs typeface="Helvetica Neue"/>
                        </a:rPr>
                        <a:t>MAE</a:t>
                      </a:r>
                    </a:p>
                  </a:txBody>
                  <a:tcPr marL="133350" marR="133350" marT="95250" marB="95250" anchor="ctr">
                    <a:solidFill>
                      <a:srgbClr val="FFFFFF"/>
                    </a:solidFill>
                  </a:tcPr>
                </a:tc>
              </a:tr>
              <a:tr h="738188">
                <a:tc>
                  <a:txBody>
                    <a:bodyPr>
                      <a:noAutofit/>
                    </a:bodyPr>
                    <a:lstStyle/>
                    <a:p>
                      <a:r>
                        <a:rPr sz="1950" b="0">
                          <a:solidFill>
                            <a:srgbClr val="142335"/>
                          </a:solidFill>
                          <a:latin typeface="Helvetica Neue"/>
                          <a:ea typeface="Helvetica Neue"/>
                          <a:cs typeface="Helvetica Neue"/>
                        </a:rPr>
                        <a:t>Sarvam / Qwen</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96.0%</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87.6%</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0.79</a:t>
                      </a:r>
                    </a:p>
                  </a:txBody>
                  <a:tcPr marL="133350" marR="133350" marT="95250" marB="95250" anchor="ctr">
                    <a:solidFill>
                      <a:srgbClr val="FFFFFF"/>
                    </a:solidFill>
                  </a:tcPr>
                </a:tc>
              </a:tr>
              <a:tr h="738188">
                <a:tc>
                  <a:txBody>
                    <a:bodyPr>
                      <a:noAutofit/>
                    </a:bodyPr>
                    <a:lstStyle/>
                    <a:p>
                      <a:r>
                        <a:rPr sz="1950" b="0">
                          <a:solidFill>
                            <a:srgbClr val="142335"/>
                          </a:solidFill>
                          <a:latin typeface="Helvetica Neue"/>
                          <a:ea typeface="Helvetica Neue"/>
                          <a:cs typeface="Helvetica Neue"/>
                        </a:rPr>
                        <a:t>Sarvam / Ministral</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97.2%</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80.0%</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0.80</a:t>
                      </a:r>
                    </a:p>
                  </a:txBody>
                  <a:tcPr marL="133350" marR="133350" marT="95250" marB="95250" anchor="ctr">
                    <a:solidFill>
                      <a:srgbClr val="FFFFFF"/>
                    </a:solidFill>
                  </a:tcPr>
                </a:tc>
              </a:tr>
              <a:tr h="738188">
                <a:tc>
                  <a:txBody>
                    <a:bodyPr>
                      <a:noAutofit/>
                    </a:bodyPr>
                    <a:lstStyle/>
                    <a:p>
                      <a:r>
                        <a:rPr sz="1950" b="0">
                          <a:solidFill>
                            <a:srgbClr val="142335"/>
                          </a:solidFill>
                          <a:latin typeface="Helvetica Neue"/>
                          <a:ea typeface="Helvetica Neue"/>
                          <a:cs typeface="Helvetica Neue"/>
                        </a:rPr>
                        <a:t>Qwen / Ministral</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98.0%</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80.4%</a:t>
                      </a:r>
                    </a:p>
                  </a:txBody>
                  <a:tcPr marL="133350" marR="133350" marT="95250" marB="95250" anchor="ctr">
                    <a:solidFill>
                      <a:srgbClr val="FFFFFF"/>
                    </a:solidFill>
                  </a:tcPr>
                </a:tc>
                <a:tc>
                  <a:txBody>
                    <a:bodyPr>
                      <a:noAutofit/>
                    </a:bodyPr>
                    <a:lstStyle/>
                    <a:p>
                      <a:r>
                        <a:rPr sz="1950" b="0">
                          <a:solidFill>
                            <a:srgbClr val="142335"/>
                          </a:solidFill>
                          <a:latin typeface="Helvetica Neue"/>
                          <a:ea typeface="Helvetica Neue"/>
                          <a:cs typeface="Helvetica Neue"/>
                        </a:rPr>
                        <a:t>0.72</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A56DE40-D0DD-476D-A865-3F9F639185B6}"/>
              </a:ext>
            </a:extLst>
          </p:cNvPr>
          <p:cNvSpPr>
            <a:spLocks xmlns:a="http://schemas.openxmlformats.org/drawingml/2006/main" noGrp="1"/>
          </p:cNvSpPr>
          <p:nvPr/>
        </p:nvSpPr>
        <p:spPr>
          <a:xfrm xmlns:a="http://schemas.openxmlformats.org/drawingml/2006/main">
            <a:off x="609600" y="5238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F62FE"/>
                </a:solidFill>
                <a:latin typeface="Helvetica Neue"/>
                <a:ea typeface="Helvetica Neue"/>
                <a:cs typeface="Helvetica Neue"/>
              </a:defRPr>
            </a:pPr>
            <a:r>
              <a:rPr sz="1950" b="1">
                <a:solidFill>
                  <a:srgbClr val="0F62FE"/>
                </a:solidFill>
                <a:latin typeface="Helvetica Neue"/>
                <a:ea typeface="Helvetica Neue"/>
                <a:cs typeface="Helvetica Neue"/>
              </a:rPr>
              <a:t>The same inputs and reference answers match across all three judges.</a:t>
            </a:r>
          </a:p>
        </p:txBody>
      </p:sp>
      <p:sp>
        <p:nvSpPr>
          <p:cNvPr id="7" name="">
            <a:extLst xmlns:a="http://schemas.openxmlformats.org/drawingml/2006/main">
              <a:ext uri="{FF2B5EF4-FFF2-40B4-BE49-F238E27FC236}">
                <a16:creationId xmlns:a16="http://schemas.microsoft.com/office/drawing/2014/main" id="{32CB0BC4-F37B-4B26-9466-6805873A073F}"/>
              </a:ext>
            </a:extLst>
          </p:cNvPr>
          <p:cNvSpPr>
            <a:spLocks xmlns:a="http://schemas.openxmlformats.org/drawingml/2006/main" noGrp="1"/>
          </p:cNvSpPr>
          <p:nvPr/>
        </p:nvSpPr>
        <p:spPr>
          <a:xfrm xmlns:a="http://schemas.openxmlformats.org/drawingml/2006/main">
            <a:off x="609600" y="57340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377"/>
                </a:solidFill>
                <a:latin typeface="Helvetica Neue"/>
                <a:ea typeface="Helvetica Neue"/>
                <a:cs typeface="Helvetica Neue"/>
              </a:defRPr>
            </a:pPr>
            <a:r>
              <a:rPr sz="1800" b="0">
                <a:solidFill>
                  <a:srgbClr val="526377"/>
                </a:solidFill>
                <a:latin typeface="Helvetica Neue"/>
                <a:ea typeface="Helvetica Neue"/>
                <a:cs typeface="Helvetica Neue"/>
              </a:rPr>
              <a:t>This subset is fixed by question ID. It is not a representative random sample.</a:t>
            </a:r>
          </a:p>
        </p:txBody>
      </p:sp>
    </p:spTree>
    <p:extLst>
      <p:ext uri="{BB962C8B-B14F-4D97-AF65-F5344CB8AC3E}">
        <p14:creationId xmlns:p14="http://schemas.microsoft.com/office/powerpoint/2010/main" val="11513301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773214-F4D7-44EB-8698-D3D570E210AA}"/>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SHARE RATED COMPLIANT: 100 MATCHED P5 RESPONSES</a:t>
            </a:r>
          </a:p>
        </p:txBody>
      </p:sp>
      <p:sp>
        <p:nvSpPr>
          <p:cNvPr id="2" name="">
            <a:extLst xmlns:a="http://schemas.openxmlformats.org/drawingml/2006/main">
              <a:ext uri="{FF2B5EF4-FFF2-40B4-BE49-F238E27FC236}">
                <a16:creationId xmlns:a16="http://schemas.microsoft.com/office/drawing/2014/main" id="{80AB6C9F-E28E-4733-8CB6-661CC4ABB84E}"/>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P5 exposes a large compliance disagreement</a:t>
            </a:r>
          </a:p>
        </p:txBody>
      </p:sp>
      <p:sp>
        <p:nvSpPr>
          <p:cNvPr id="3" name="">
            <a:extLst xmlns:a="http://schemas.openxmlformats.org/drawingml/2006/main">
              <a:ext uri="{FF2B5EF4-FFF2-40B4-BE49-F238E27FC236}">
                <a16:creationId xmlns:a16="http://schemas.microsoft.com/office/drawing/2014/main" id="{30DC0542-0FA3-470B-9829-C314E31D121C}"/>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FB5BF634-BB1E-42F5-8617-C73C8D9FDD16}"/>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18</a:t>
            </a:r>
          </a:p>
        </p:txBody>
      </p:sp>
      <p:graphicFrame>
        <p:nvGraphicFramePr>
          <p:cNvPr id="11" name="Chart"/>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979d82fd63e44f3f"/>
          </a:graphicData>
        </a:graphic>
      </p:graphicFrame>
      <p:sp>
        <p:nvSpPr>
          <p:cNvPr id="6" name="">
            <a:extLst xmlns:a="http://schemas.openxmlformats.org/drawingml/2006/main">
              <a:ext uri="{FF2B5EF4-FFF2-40B4-BE49-F238E27FC236}">
                <a16:creationId xmlns:a16="http://schemas.microsoft.com/office/drawing/2014/main" id="{82FE2D8A-3CDF-467B-86B5-8A2741CC3E27}"/>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Review P5’s “brief, insufficient explanation” requirement with human raters.</a:t>
            </a:r>
          </a:p>
        </p:txBody>
      </p:sp>
    </p:spTree>
    <p:extLst>
      <p:ext uri="{BB962C8B-B14F-4D97-AF65-F5344CB8AC3E}">
        <p14:creationId xmlns:p14="http://schemas.microsoft.com/office/powerpoint/2010/main" val="7541604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481530-4D19-4F41-8965-61B3018C3AC3}"/>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VALIDATION PLAN</a:t>
            </a:r>
          </a:p>
        </p:txBody>
      </p:sp>
      <p:sp>
        <p:nvSpPr>
          <p:cNvPr id="2" name="">
            <a:extLst xmlns:a="http://schemas.openxmlformats.org/drawingml/2006/main">
              <a:ext uri="{FF2B5EF4-FFF2-40B4-BE49-F238E27FC236}">
                <a16:creationId xmlns:a16="http://schemas.microsoft.com/office/drawing/2014/main" id="{C889AA03-31AC-4983-AD40-0C217CE3A974}"/>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Human evaluation is prepared and still pending</a:t>
            </a:r>
          </a:p>
        </p:txBody>
      </p:sp>
      <p:sp>
        <p:nvSpPr>
          <p:cNvPr id="3" name="">
            <a:extLst xmlns:a="http://schemas.openxmlformats.org/drawingml/2006/main">
              <a:ext uri="{FF2B5EF4-FFF2-40B4-BE49-F238E27FC236}">
                <a16:creationId xmlns:a16="http://schemas.microsoft.com/office/drawing/2014/main" id="{052B1D8C-47E1-4C6B-855C-3CC775286DE6}"/>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BD420A63-5F2B-4AFB-9915-548A321D397B}"/>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9821A2A3-1B4F-4D07-B03F-88CAC752D63D}"/>
              </a:ext>
            </a:extLst>
          </p:cNvPr>
          <p:cNvSpPr>
            <a:spLocks xmlns:a="http://schemas.openxmlformats.org/drawingml/2006/main" noGrp="1"/>
          </p:cNvSpPr>
          <p:nvPr/>
        </p:nvSpPr>
        <p:spPr>
          <a:xfrm xmlns:a="http://schemas.openxmlformats.org/drawingml/2006/main">
            <a:off x="609600" y="18859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200 shared items</a:t>
            </a:r>
          </a:p>
        </p:txBody>
      </p:sp>
      <p:sp>
        <p:nvSpPr>
          <p:cNvPr id="6" name="">
            <a:extLst xmlns:a="http://schemas.openxmlformats.org/drawingml/2006/main">
              <a:ext uri="{FF2B5EF4-FFF2-40B4-BE49-F238E27FC236}">
                <a16:creationId xmlns:a16="http://schemas.microsoft.com/office/drawing/2014/main" id="{27C7E8BF-70E6-4B10-B046-DC130A1C6AB0}"/>
              </a:ext>
            </a:extLst>
          </p:cNvPr>
          <p:cNvSpPr>
            <a:spLocks xmlns:a="http://schemas.openxmlformats.org/drawingml/2006/main" noGrp="1"/>
          </p:cNvSpPr>
          <p:nvPr/>
        </p:nvSpPr>
        <p:spPr>
          <a:xfrm xmlns:a="http://schemas.openxmlformats.org/drawingml/2006/main">
            <a:off x="3829050" y="1885950"/>
            <a:ext cx="771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Two responses from each language × candidate model × prompt stratum. Both reviewers see the same items.</a:t>
            </a:r>
          </a:p>
        </p:txBody>
      </p:sp>
      <p:sp>
        <p:nvSpPr>
          <p:cNvPr id="7" name="">
            <a:extLst xmlns:a="http://schemas.openxmlformats.org/drawingml/2006/main">
              <a:ext uri="{FF2B5EF4-FFF2-40B4-BE49-F238E27FC236}">
                <a16:creationId xmlns:a16="http://schemas.microsoft.com/office/drawing/2014/main" id="{23FA93D1-D01E-4BF9-8A9F-3C7EFB0D8D0B}"/>
              </a:ext>
            </a:extLst>
          </p:cNvPr>
          <p:cNvSpPr>
            <a:spLocks xmlns:a="http://schemas.openxmlformats.org/drawingml/2006/main" noGrp="1"/>
          </p:cNvSpPr>
          <p:nvPr/>
        </p:nvSpPr>
        <p:spPr>
          <a:xfrm xmlns:a="http://schemas.openxmlformats.org/drawingml/2006/main">
            <a:off x="609600" y="30003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Independent ratings</a:t>
            </a:r>
          </a:p>
        </p:txBody>
      </p:sp>
      <p:sp>
        <p:nvSpPr>
          <p:cNvPr id="8" name="">
            <a:extLst xmlns:a="http://schemas.openxmlformats.org/drawingml/2006/main">
              <a:ext uri="{FF2B5EF4-FFF2-40B4-BE49-F238E27FC236}">
                <a16:creationId xmlns:a16="http://schemas.microsoft.com/office/drawing/2014/main" id="{987FFEBC-87A6-4B6D-90AF-BFEDB6380518}"/>
              </a:ext>
            </a:extLst>
          </p:cNvPr>
          <p:cNvSpPr>
            <a:spLocks xmlns:a="http://schemas.openxmlformats.org/drawingml/2006/main" noGrp="1"/>
          </p:cNvSpPr>
          <p:nvPr/>
        </p:nvSpPr>
        <p:spPr>
          <a:xfrm xmlns:a="http://schemas.openxmlformats.org/drawingml/2006/main">
            <a:off x="3829050" y="3000375"/>
            <a:ext cx="771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Model labels and LLM scores are omitted. Use reviewers competent in the language being assessed.</a:t>
            </a:r>
          </a:p>
        </p:txBody>
      </p:sp>
      <p:sp>
        <p:nvSpPr>
          <p:cNvPr id="9" name="">
            <a:extLst xmlns:a="http://schemas.openxmlformats.org/drawingml/2006/main">
              <a:ext uri="{FF2B5EF4-FFF2-40B4-BE49-F238E27FC236}">
                <a16:creationId xmlns:a16="http://schemas.microsoft.com/office/drawing/2014/main" id="{8490698E-7E1C-4788-AAA9-ADA98CA10F4B}"/>
              </a:ext>
            </a:extLst>
          </p:cNvPr>
          <p:cNvSpPr>
            <a:spLocks xmlns:a="http://schemas.openxmlformats.org/drawingml/2006/main" noGrp="1"/>
          </p:cNvSpPr>
          <p:nvPr/>
        </p:nvSpPr>
        <p:spPr>
          <a:xfrm xmlns:a="http://schemas.openxmlformats.org/drawingml/2006/main">
            <a:off x="609600" y="411480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Current local status</a:t>
            </a:r>
          </a:p>
        </p:txBody>
      </p:sp>
      <p:sp>
        <p:nvSpPr>
          <p:cNvPr id="10" name="">
            <a:extLst xmlns:a="http://schemas.openxmlformats.org/drawingml/2006/main">
              <a:ext uri="{FF2B5EF4-FFF2-40B4-BE49-F238E27FC236}">
                <a16:creationId xmlns:a16="http://schemas.microsoft.com/office/drawing/2014/main" id="{1B1D4B0D-381C-40C5-82A6-66DAF96178DC}"/>
              </a:ext>
            </a:extLst>
          </p:cNvPr>
          <p:cNvSpPr>
            <a:spLocks xmlns:a="http://schemas.openxmlformats.org/drawingml/2006/main" noGrp="1"/>
          </p:cNvSpPr>
          <p:nvPr/>
        </p:nvSpPr>
        <p:spPr>
          <a:xfrm xmlns:a="http://schemas.openxmlformats.org/drawingml/2006/main">
            <a:off x="3829050" y="4114800"/>
            <a:ext cx="771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Reviewer 1: 0 of 200 rated. Reviewer 2: 0 of 200 rated. Reference answers are supplied, not reviewer judgments.</a:t>
            </a:r>
          </a:p>
        </p:txBody>
      </p:sp>
      <p:sp>
        <p:nvSpPr>
          <p:cNvPr id="11" name="">
            <a:extLst xmlns:a="http://schemas.openxmlformats.org/drawingml/2006/main">
              <a:ext uri="{FF2B5EF4-FFF2-40B4-BE49-F238E27FC236}">
                <a16:creationId xmlns:a16="http://schemas.microsoft.com/office/drawing/2014/main" id="{7357F845-B633-4ADA-996D-9DC4A3953790}"/>
              </a:ext>
            </a:extLst>
          </p:cNvPr>
          <p:cNvSpPr>
            <a:spLocks xmlns:a="http://schemas.openxmlformats.org/drawingml/2006/main" noGrp="1"/>
          </p:cNvSpPr>
          <p:nvPr/>
        </p:nvSpPr>
        <p:spPr>
          <a:xfrm xmlns:a="http://schemas.openxmlformats.org/drawingml/2006/main">
            <a:off x="609600" y="57531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F62FE"/>
                </a:solidFill>
                <a:latin typeface="Helvetica Neue"/>
                <a:ea typeface="Helvetica Neue"/>
                <a:cs typeface="Helvetica Neue"/>
              </a:defRPr>
            </a:pPr>
            <a:r>
              <a:rPr sz="1800" b="1">
                <a:solidFill>
                  <a:srgbClr val="0F62FE"/>
                </a:solidFill>
                <a:latin typeface="Helvetica Neue"/>
                <a:ea typeface="Helvetica Neue"/>
                <a:cs typeface="Helvetica Neue"/>
              </a:rPr>
              <a:t>Preserve original ratings, measure agreement, then adjudicate disagreements.</a:t>
            </a:r>
          </a:p>
        </p:txBody>
      </p:sp>
    </p:spTree>
    <p:extLst>
      <p:ext uri="{BB962C8B-B14F-4D97-AF65-F5344CB8AC3E}">
        <p14:creationId xmlns:p14="http://schemas.microsoft.com/office/powerpoint/2010/main" val="5357918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CC35EE-D6EC-456D-AA8B-20991C775E83}"/>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RESEARCH VALIDITY</a:t>
            </a:r>
          </a:p>
        </p:txBody>
      </p:sp>
      <p:sp>
        <p:nvSpPr>
          <p:cNvPr id="2" name="">
            <a:extLst xmlns:a="http://schemas.openxmlformats.org/drawingml/2006/main">
              <a:ext uri="{FF2B5EF4-FFF2-40B4-BE49-F238E27FC236}">
                <a16:creationId xmlns:a16="http://schemas.microsoft.com/office/drawing/2014/main" id="{A6D8F238-28F9-4DCE-8E7A-1705B01EC92E}"/>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Four limits shape the interpretation</a:t>
            </a:r>
          </a:p>
        </p:txBody>
      </p:sp>
      <p:sp>
        <p:nvSpPr>
          <p:cNvPr id="3" name="">
            <a:extLst xmlns:a="http://schemas.openxmlformats.org/drawingml/2006/main">
              <a:ext uri="{FF2B5EF4-FFF2-40B4-BE49-F238E27FC236}">
                <a16:creationId xmlns:a16="http://schemas.microsoft.com/office/drawing/2014/main" id="{34D4ECD3-283A-46D2-9C8D-78CF8AEB287B}"/>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DAE113DC-3303-4645-824B-7F1623FF986F}"/>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DAB26D66-52FA-43F5-9695-0A18A28EB033}"/>
              </a:ext>
            </a:extLst>
          </p:cNvPr>
          <p:cNvSpPr>
            <a:spLocks xmlns:a="http://schemas.openxmlformats.org/drawingml/2006/main" noGrp="1"/>
          </p:cNvSpPr>
          <p:nvPr/>
        </p:nvSpPr>
        <p:spPr>
          <a:xfrm xmlns:a="http://schemas.openxmlformats.org/drawingml/2006/main">
            <a:off x="609600" y="18478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Recovered responses</a:t>
            </a:r>
          </a:p>
        </p:txBody>
      </p:sp>
      <p:sp>
        <p:nvSpPr>
          <p:cNvPr id="6" name="">
            <a:extLst xmlns:a="http://schemas.openxmlformats.org/drawingml/2006/main">
              <a:ext uri="{FF2B5EF4-FFF2-40B4-BE49-F238E27FC236}">
                <a16:creationId xmlns:a16="http://schemas.microsoft.com/office/drawing/2014/main" id="{07CDED89-C977-4C64-945C-A26464B59455}"/>
              </a:ext>
            </a:extLst>
          </p:cNvPr>
          <p:cNvSpPr>
            <a:spLocks xmlns:a="http://schemas.openxmlformats.org/drawingml/2006/main" noGrp="1"/>
          </p:cNvSpPr>
          <p:nvPr/>
        </p:nvSpPr>
        <p:spPr>
          <a:xfrm xmlns:a="http://schemas.openxmlformats.org/drawingml/2006/main">
            <a:off x="3829050" y="1847850"/>
            <a:ext cx="771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353 of 5,000 visible responses are marked as salvaged from reasoning. Analyze this group separately.</a:t>
            </a:r>
          </a:p>
        </p:txBody>
      </p:sp>
      <p:sp>
        <p:nvSpPr>
          <p:cNvPr id="7" name="">
            <a:extLst xmlns:a="http://schemas.openxmlformats.org/drawingml/2006/main">
              <a:ext uri="{FF2B5EF4-FFF2-40B4-BE49-F238E27FC236}">
                <a16:creationId xmlns:a16="http://schemas.microsoft.com/office/drawing/2014/main" id="{B76DB4FF-9AC1-4D04-81F9-DD711C49F9A8}"/>
              </a:ext>
            </a:extLst>
          </p:cNvPr>
          <p:cNvSpPr>
            <a:spLocks xmlns:a="http://schemas.openxmlformats.org/drawingml/2006/main" noGrp="1"/>
          </p:cNvSpPr>
          <p:nvPr/>
        </p:nvSpPr>
        <p:spPr>
          <a:xfrm xmlns:a="http://schemas.openxmlformats.org/drawingml/2006/main">
            <a:off x="609600" y="28003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Sampling and alignment</a:t>
            </a:r>
          </a:p>
        </p:txBody>
      </p:sp>
      <p:sp>
        <p:nvSpPr>
          <p:cNvPr id="8" name="">
            <a:extLst xmlns:a="http://schemas.openxmlformats.org/drawingml/2006/main">
              <a:ext uri="{FF2B5EF4-FFF2-40B4-BE49-F238E27FC236}">
                <a16:creationId xmlns:a16="http://schemas.microsoft.com/office/drawing/2014/main" id="{3FAF478D-3ACD-4B5E-9BC2-F05D30BE4C77}"/>
              </a:ext>
            </a:extLst>
          </p:cNvPr>
          <p:cNvSpPr>
            <a:spLocks xmlns:a="http://schemas.openxmlformats.org/drawingml/2006/main" noGrp="1"/>
          </p:cNvSpPr>
          <p:nvPr/>
        </p:nvSpPr>
        <p:spPr>
          <a:xfrm xmlns:a="http://schemas.openxmlformats.org/drawingml/2006/main">
            <a:off x="3829050" y="2800350"/>
            <a:ext cx="771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First-50 datasets and a first-five Ministral subset limit generalization. IDs do not align problems across all languages.</a:t>
            </a:r>
          </a:p>
        </p:txBody>
      </p:sp>
      <p:sp>
        <p:nvSpPr>
          <p:cNvPr id="9" name="">
            <a:extLst xmlns:a="http://schemas.openxmlformats.org/drawingml/2006/main">
              <a:ext uri="{FF2B5EF4-FFF2-40B4-BE49-F238E27FC236}">
                <a16:creationId xmlns:a16="http://schemas.microsoft.com/office/drawing/2014/main" id="{9565268D-B781-4E9C-A469-71E3694AC651}"/>
              </a:ext>
            </a:extLst>
          </p:cNvPr>
          <p:cNvSpPr>
            <a:spLocks xmlns:a="http://schemas.openxmlformats.org/drawingml/2006/main" noGrp="1"/>
          </p:cNvSpPr>
          <p:nvPr/>
        </p:nvSpPr>
        <p:spPr>
          <a:xfrm xmlns:a="http://schemas.openxmlformats.org/drawingml/2006/main">
            <a:off x="609600" y="37528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Model configuration</a:t>
            </a:r>
          </a:p>
        </p:txBody>
      </p:sp>
      <p:sp>
        <p:nvSpPr>
          <p:cNvPr id="10" name="">
            <a:extLst xmlns:a="http://schemas.openxmlformats.org/drawingml/2006/main">
              <a:ext uri="{FF2B5EF4-FFF2-40B4-BE49-F238E27FC236}">
                <a16:creationId xmlns:a16="http://schemas.microsoft.com/office/drawing/2014/main" id="{06B83905-9A8A-4CB2-A256-C0C08DA6ECBB}"/>
              </a:ext>
            </a:extLst>
          </p:cNvPr>
          <p:cNvSpPr>
            <a:spLocks xmlns:a="http://schemas.openxmlformats.org/drawingml/2006/main" noGrp="1"/>
          </p:cNvSpPr>
          <p:nvPr/>
        </p:nvSpPr>
        <p:spPr>
          <a:xfrm xmlns:a="http://schemas.openxmlformats.org/drawingml/2006/main">
            <a:off x="3829050" y="3752850"/>
            <a:ext cx="771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Quantization, token budgets and retry settings may affect judgments. Saved CSVs do not capture a full run manifest.</a:t>
            </a:r>
          </a:p>
        </p:txBody>
      </p:sp>
      <p:sp>
        <p:nvSpPr>
          <p:cNvPr id="11" name="">
            <a:extLst xmlns:a="http://schemas.openxmlformats.org/drawingml/2006/main">
              <a:ext uri="{FF2B5EF4-FFF2-40B4-BE49-F238E27FC236}">
                <a16:creationId xmlns:a16="http://schemas.microsoft.com/office/drawing/2014/main" id="{3C8FCF87-2546-4C89-8889-5C3ABFC536E5}"/>
              </a:ext>
            </a:extLst>
          </p:cNvPr>
          <p:cNvSpPr>
            <a:spLocks xmlns:a="http://schemas.openxmlformats.org/drawingml/2006/main" noGrp="1"/>
          </p:cNvSpPr>
          <p:nvPr/>
        </p:nvSpPr>
        <p:spPr>
          <a:xfrm xmlns:a="http://schemas.openxmlformats.org/drawingml/2006/main">
            <a:off x="609600" y="47053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F62FE"/>
                </a:solidFill>
                <a:latin typeface="Helvetica Neue"/>
                <a:ea typeface="Helvetica Neue"/>
                <a:cs typeface="Helvetica Neue"/>
              </a:defRPr>
            </a:pPr>
            <a:r>
              <a:rPr sz="2025" b="1">
                <a:solidFill>
                  <a:srgbClr val="0F62FE"/>
                </a:solidFill>
                <a:latin typeface="Helvetica Neue"/>
                <a:ea typeface="Helvetica Neue"/>
                <a:cs typeface="Helvetica Neue"/>
              </a:rPr>
              <a:t>External validity</a:t>
            </a:r>
          </a:p>
        </p:txBody>
      </p:sp>
      <p:sp>
        <p:nvSpPr>
          <p:cNvPr id="12" name="">
            <a:extLst xmlns:a="http://schemas.openxmlformats.org/drawingml/2006/main">
              <a:ext uri="{FF2B5EF4-FFF2-40B4-BE49-F238E27FC236}">
                <a16:creationId xmlns:a16="http://schemas.microsoft.com/office/drawing/2014/main" id="{304B8867-C196-4521-9A50-E97613F5A05E}"/>
              </a:ext>
            </a:extLst>
          </p:cNvPr>
          <p:cNvSpPr>
            <a:spLocks xmlns:a="http://schemas.openxmlformats.org/drawingml/2006/main" noGrp="1"/>
          </p:cNvSpPr>
          <p:nvPr/>
        </p:nvSpPr>
        <p:spPr>
          <a:xfrm xmlns:a="http://schemas.openxmlformats.org/drawingml/2006/main">
            <a:off x="3829050" y="4705350"/>
            <a:ext cx="771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335"/>
                </a:solidFill>
                <a:latin typeface="Helvetica Neue"/>
                <a:ea typeface="Helvetica Neue"/>
                <a:cs typeface="Helvetica Neue"/>
              </a:defRPr>
            </a:pPr>
            <a:r>
              <a:rPr sz="2025" b="0">
                <a:solidFill>
                  <a:srgbClr val="142335"/>
                </a:solidFill>
                <a:latin typeface="Helvetica Neue"/>
                <a:ea typeface="Helvetica Neue"/>
                <a:cs typeface="Helvetica Neue"/>
              </a:rPr>
              <a:t>Judge agreement cannot prove correctness. Human ratings and adjudication are needed before selecting a preferred judge.</a:t>
            </a:r>
          </a:p>
        </p:txBody>
      </p:sp>
    </p:spTree>
    <p:extLst>
      <p:ext uri="{BB962C8B-B14F-4D97-AF65-F5344CB8AC3E}">
        <p14:creationId xmlns:p14="http://schemas.microsoft.com/office/powerpoint/2010/main" val="9238384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024A4B2-DEA7-4E39-A5C1-061B5FF53EBB}"/>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RESEARCH ROADMAP</a:t>
            </a:r>
          </a:p>
        </p:txBody>
      </p:sp>
      <p:sp>
        <p:nvSpPr>
          <p:cNvPr id="2" name="">
            <a:extLst xmlns:a="http://schemas.openxmlformats.org/drawingml/2006/main">
              <a:ext uri="{FF2B5EF4-FFF2-40B4-BE49-F238E27FC236}">
                <a16:creationId xmlns:a16="http://schemas.microsoft.com/office/drawing/2014/main" id="{F9CF681E-F860-49B4-85BD-4FA9D31AAF9F}"/>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Proposed next stage for discussion with IBM</a:t>
            </a:r>
          </a:p>
        </p:txBody>
      </p:sp>
      <p:sp>
        <p:nvSpPr>
          <p:cNvPr id="3" name="">
            <a:extLst xmlns:a="http://schemas.openxmlformats.org/drawingml/2006/main">
              <a:ext uri="{FF2B5EF4-FFF2-40B4-BE49-F238E27FC236}">
                <a16:creationId xmlns:a16="http://schemas.microsoft.com/office/drawing/2014/main" id="{3DEC1041-5B7C-465C-BE14-F57E0C241D96}"/>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AD416D2F-4028-4F35-B507-812F3F51DBE7}"/>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2C00DEFE-315B-49F7-9F9B-4A65770A975F}"/>
              </a:ext>
            </a:extLst>
          </p:cNvPr>
          <p:cNvSpPr>
            <a:spLocks xmlns:a="http://schemas.openxmlformats.org/drawingml/2006/main" noGrp="1"/>
          </p:cNvSpPr>
          <p:nvPr/>
        </p:nvSpPr>
        <p:spPr>
          <a:xfrm xmlns:a="http://schemas.openxmlformats.org/drawingml/2006/main">
            <a:off x="609600" y="1943100"/>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142335"/>
                </a:solidFill>
                <a:latin typeface="Helvetica Neue"/>
                <a:ea typeface="Helvetica Neue"/>
                <a:cs typeface="Helvetica Neue"/>
              </a:defRPr>
            </a:pPr>
            <a:r>
              <a:rPr sz="2925" b="1">
                <a:solidFill>
                  <a:srgbClr val="142335"/>
                </a:solidFill>
                <a:latin typeface="Helvetica Neue"/>
                <a:ea typeface="Helvetica Neue"/>
                <a:cs typeface="Helvetica Neue"/>
              </a:rPr>
              <a:t>Validate the judge before relying on its ratings</a:t>
            </a:r>
          </a:p>
        </p:txBody>
      </p:sp>
      <p:sp>
        <p:nvSpPr>
          <p:cNvPr id="6" name="">
            <a:extLst xmlns:a="http://schemas.openxmlformats.org/drawingml/2006/main">
              <a:ext uri="{FF2B5EF4-FFF2-40B4-BE49-F238E27FC236}">
                <a16:creationId xmlns:a16="http://schemas.microsoft.com/office/drawing/2014/main" id="{B261505A-4855-4ED2-BD16-49599AA2F70F}"/>
              </a:ext>
            </a:extLst>
          </p:cNvPr>
          <p:cNvSpPr>
            <a:spLocks xmlns:a="http://schemas.openxmlformats.org/drawingml/2006/main" noGrp="1"/>
          </p:cNvSpPr>
          <p:nvPr/>
        </p:nvSpPr>
        <p:spPr>
          <a:xfrm xmlns:a="http://schemas.openxmlformats.org/drawingml/2006/main">
            <a:off x="609600" y="2952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F62FE"/>
                </a:solidFill>
                <a:latin typeface="Helvetica Neue"/>
                <a:ea typeface="Helvetica Neue"/>
                <a:cs typeface="Helvetica Neue"/>
              </a:defRPr>
            </a:pPr>
            <a:r>
              <a:rPr sz="2250" b="1">
                <a:solidFill>
                  <a:srgbClr val="0F62FE"/>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63F44CF4-247C-46FE-BC82-C8B43054E974}"/>
              </a:ext>
            </a:extLst>
          </p:cNvPr>
          <p:cNvSpPr>
            <a:spLocks xmlns:a="http://schemas.openxmlformats.org/drawingml/2006/main" noGrp="1"/>
          </p:cNvSpPr>
          <p:nvPr/>
        </p:nvSpPr>
        <p:spPr>
          <a:xfrm xmlns:a="http://schemas.openxmlformats.org/drawingml/2006/main">
            <a:off x="1371600" y="2952750"/>
            <a:ext cx="1019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335"/>
                </a:solidFill>
                <a:latin typeface="Helvetica Neue"/>
                <a:ea typeface="Helvetica Neue"/>
                <a:cs typeface="Helvetica Neue"/>
              </a:defRPr>
            </a:pPr>
            <a:r>
              <a:rPr sz="2100" b="0">
                <a:solidFill>
                  <a:srgbClr val="142335"/>
                </a:solidFill>
                <a:latin typeface="Helvetica Neue"/>
                <a:ea typeface="Helvetica Neue"/>
                <a:cs typeface="Helvetica Neue"/>
              </a:rPr>
              <a:t>Complete language-competent human reviews and adjudication.</a:t>
            </a:r>
          </a:p>
        </p:txBody>
      </p:sp>
      <p:sp>
        <p:nvSpPr>
          <p:cNvPr id="8" name="">
            <a:extLst xmlns:a="http://schemas.openxmlformats.org/drawingml/2006/main">
              <a:ext uri="{FF2B5EF4-FFF2-40B4-BE49-F238E27FC236}">
                <a16:creationId xmlns:a16="http://schemas.microsoft.com/office/drawing/2014/main" id="{168CBF68-C2ED-4E0A-82F5-D6C2158C82A2}"/>
              </a:ext>
            </a:extLst>
          </p:cNvPr>
          <p:cNvSpPr>
            <a:spLocks xmlns:a="http://schemas.openxmlformats.org/drawingml/2006/main" noGrp="1"/>
          </p:cNvSpPr>
          <p:nvPr/>
        </p:nvSpPr>
        <p:spPr>
          <a:xfrm xmlns:a="http://schemas.openxmlformats.org/drawingml/2006/main">
            <a:off x="609600" y="36195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F62FE"/>
                </a:solidFill>
                <a:latin typeface="Helvetica Neue"/>
                <a:ea typeface="Helvetica Neue"/>
                <a:cs typeface="Helvetica Neue"/>
              </a:defRPr>
            </a:pPr>
            <a:r>
              <a:rPr sz="2250" b="1">
                <a:solidFill>
                  <a:srgbClr val="0F62FE"/>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17768147-CCE0-4A5B-A209-BF689BE04818}"/>
              </a:ext>
            </a:extLst>
          </p:cNvPr>
          <p:cNvSpPr>
            <a:spLocks xmlns:a="http://schemas.openxmlformats.org/drawingml/2006/main" noGrp="1"/>
          </p:cNvSpPr>
          <p:nvPr/>
        </p:nvSpPr>
        <p:spPr>
          <a:xfrm xmlns:a="http://schemas.openxmlformats.org/drawingml/2006/main">
            <a:off x="1371600" y="3619500"/>
            <a:ext cx="1019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335"/>
                </a:solidFill>
                <a:latin typeface="Helvetica Neue"/>
                <a:ea typeface="Helvetica Neue"/>
                <a:cs typeface="Helvetica Neue"/>
              </a:defRPr>
            </a:pPr>
            <a:r>
              <a:rPr sz="2100" b="0">
                <a:solidFill>
                  <a:srgbClr val="142335"/>
                </a:solidFill>
                <a:latin typeface="Helvetica Neue"/>
                <a:ea typeface="Helvetica Neue"/>
                <a:cs typeface="Helvetica Neue"/>
              </a:rPr>
              <a:t>Audit P5 disagreements and separate salvaged responses.</a:t>
            </a:r>
          </a:p>
        </p:txBody>
      </p:sp>
      <p:sp>
        <p:nvSpPr>
          <p:cNvPr id="10" name="">
            <a:extLst xmlns:a="http://schemas.openxmlformats.org/drawingml/2006/main">
              <a:ext uri="{FF2B5EF4-FFF2-40B4-BE49-F238E27FC236}">
                <a16:creationId xmlns:a16="http://schemas.microsoft.com/office/drawing/2014/main" id="{F4FC1BD1-FD90-4417-87C4-AE469B5801E5}"/>
              </a:ext>
            </a:extLst>
          </p:cNvPr>
          <p:cNvSpPr>
            <a:spLocks xmlns:a="http://schemas.openxmlformats.org/drawingml/2006/main" noGrp="1"/>
          </p:cNvSpPr>
          <p:nvPr/>
        </p:nvSpPr>
        <p:spPr>
          <a:xfrm xmlns:a="http://schemas.openxmlformats.org/drawingml/2006/main">
            <a:off x="609600" y="42862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F62FE"/>
                </a:solidFill>
                <a:latin typeface="Helvetica Neue"/>
                <a:ea typeface="Helvetica Neue"/>
                <a:cs typeface="Helvetica Neue"/>
              </a:defRPr>
            </a:pPr>
            <a:r>
              <a:rPr sz="2250" b="1">
                <a:solidFill>
                  <a:srgbClr val="0F62FE"/>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4B3B6F33-BEF3-4ADA-8565-AF77DCF4B4ED}"/>
              </a:ext>
            </a:extLst>
          </p:cNvPr>
          <p:cNvSpPr>
            <a:spLocks xmlns:a="http://schemas.openxmlformats.org/drawingml/2006/main" noGrp="1"/>
          </p:cNvSpPr>
          <p:nvPr/>
        </p:nvSpPr>
        <p:spPr>
          <a:xfrm xmlns:a="http://schemas.openxmlformats.org/drawingml/2006/main">
            <a:off x="1371600" y="4286250"/>
            <a:ext cx="1019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335"/>
                </a:solidFill>
                <a:latin typeface="Helvetica Neue"/>
                <a:ea typeface="Helvetica Neue"/>
                <a:cs typeface="Helvetica Neue"/>
              </a:defRPr>
            </a:pPr>
            <a:r>
              <a:rPr sz="2100" b="0">
                <a:solidFill>
                  <a:srgbClr val="142335"/>
                </a:solidFill>
                <a:latin typeface="Helvetica Neue"/>
                <a:ea typeface="Helvetica Neue"/>
                <a:cs typeface="Helvetica Neue"/>
              </a:rPr>
              <a:t>Freeze data, prompts and model settings with versioned manifests.</a:t>
            </a:r>
          </a:p>
        </p:txBody>
      </p:sp>
      <p:sp>
        <p:nvSpPr>
          <p:cNvPr id="12" name="">
            <a:extLst xmlns:a="http://schemas.openxmlformats.org/drawingml/2006/main">
              <a:ext uri="{FF2B5EF4-FFF2-40B4-BE49-F238E27FC236}">
                <a16:creationId xmlns:a16="http://schemas.microsoft.com/office/drawing/2014/main" id="{95EC1434-7191-46F6-90FF-74D8DA46B00D}"/>
              </a:ext>
            </a:extLst>
          </p:cNvPr>
          <p:cNvSpPr>
            <a:spLocks xmlns:a="http://schemas.openxmlformats.org/drawingml/2006/main" noGrp="1"/>
          </p:cNvSpPr>
          <p:nvPr/>
        </p:nvSpPr>
        <p:spPr>
          <a:xfrm xmlns:a="http://schemas.openxmlformats.org/drawingml/2006/main">
            <a:off x="609600" y="495300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F62FE"/>
                </a:solidFill>
                <a:latin typeface="Helvetica Neue"/>
                <a:ea typeface="Helvetica Neue"/>
                <a:cs typeface="Helvetica Neue"/>
              </a:defRPr>
            </a:pPr>
            <a:r>
              <a:rPr sz="2250" b="1">
                <a:solidFill>
                  <a:srgbClr val="0F62FE"/>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501B0668-4615-439A-97F3-7DB5A9C1A607}"/>
              </a:ext>
            </a:extLst>
          </p:cNvPr>
          <p:cNvSpPr>
            <a:spLocks xmlns:a="http://schemas.openxmlformats.org/drawingml/2006/main" noGrp="1"/>
          </p:cNvSpPr>
          <p:nvPr/>
        </p:nvSpPr>
        <p:spPr>
          <a:xfrm xmlns:a="http://schemas.openxmlformats.org/drawingml/2006/main">
            <a:off x="1371600" y="4953000"/>
            <a:ext cx="1019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335"/>
                </a:solidFill>
                <a:latin typeface="Helvetica Neue"/>
                <a:ea typeface="Helvetica Neue"/>
                <a:cs typeface="Helvetica Neue"/>
              </a:defRPr>
            </a:pPr>
            <a:r>
              <a:rPr sz="2100" b="0">
                <a:solidFill>
                  <a:srgbClr val="142335"/>
                </a:solidFill>
                <a:latin typeface="Helvetica Neue"/>
                <a:ea typeface="Helvetica Neue"/>
                <a:cs typeface="Helvetica Neue"/>
              </a:rPr>
              <a:t>Report matched judge–human agreement and inference cost.</a:t>
            </a:r>
          </a:p>
        </p:txBody>
      </p:sp>
      <p:sp>
        <p:nvSpPr>
          <p:cNvPr id="14" name="">
            <a:extLst xmlns:a="http://schemas.openxmlformats.org/drawingml/2006/main">
              <a:ext uri="{FF2B5EF4-FFF2-40B4-BE49-F238E27FC236}">
                <a16:creationId xmlns:a16="http://schemas.microsoft.com/office/drawing/2014/main" id="{A6606B80-38B0-47FE-AFDE-D80EA3114B21}"/>
              </a:ext>
            </a:extLst>
          </p:cNvPr>
          <p:cNvSpPr>
            <a:spLocks xmlns:a="http://schemas.openxmlformats.org/drawingml/2006/main" noGrp="1"/>
          </p:cNvSpPr>
          <p:nvPr/>
        </p:nvSpPr>
        <p:spPr>
          <a:xfrm xmlns:a="http://schemas.openxmlformats.org/drawingml/2006/main">
            <a:off x="609600" y="58864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F62FE"/>
                </a:solidFill>
                <a:latin typeface="Helvetica Neue"/>
                <a:ea typeface="Helvetica Neue"/>
                <a:cs typeface="Helvetica Neue"/>
              </a:defRPr>
            </a:pPr>
            <a:r>
              <a:rPr sz="1875" b="0">
                <a:solidFill>
                  <a:srgbClr val="0F62FE"/>
                </a:solidFill>
                <a:latin typeface="Helvetica Neue"/>
                <a:ea typeface="Helvetica Neue"/>
                <a:cs typeface="Helvetica Neue"/>
              </a:rPr>
              <a:t>Discussion: what human-validated reliability and cost would justify wider use?</a:t>
            </a:r>
          </a:p>
        </p:txBody>
      </p:sp>
    </p:spTree>
    <p:extLst>
      <p:ext uri="{BB962C8B-B14F-4D97-AF65-F5344CB8AC3E}">
        <p14:creationId xmlns:p14="http://schemas.microsoft.com/office/powerpoint/2010/main" val="10688773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311D15-5B0A-4A5B-8BF8-7796182457FF}"/>
              </a:ext>
            </a:extLst>
          </p:cNvPr>
          <p:cNvSpPr>
            <a:spLocks xmlns:a="http://schemas.openxmlformats.org/drawingml/2006/main" noGrp="1"/>
          </p:cNvSpPr>
          <p:nvPr/>
        </p:nvSpPr>
        <p:spPr>
          <a:xfrm xmlns:a="http://schemas.openxmlformats.org/drawingml/2006/main">
            <a:off x="609600" y="3143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F62FE"/>
                </a:solidFill>
                <a:latin typeface="Helvetica Neue"/>
                <a:ea typeface="Helvetica Neue"/>
                <a:cs typeface="Helvetica Neue"/>
              </a:defRPr>
            </a:pPr>
            <a:r>
              <a:rPr sz="1200" b="1">
                <a:solidFill>
                  <a:srgbClr val="0F62FE"/>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3122BEA3-B01D-4EDB-A327-62E545C2093C}"/>
              </a:ext>
            </a:extLst>
          </p:cNvPr>
          <p:cNvSpPr>
            <a:spLocks xmlns:a="http://schemas.openxmlformats.org/drawingml/2006/main" noGrp="1"/>
          </p:cNvSpPr>
          <p:nvPr/>
        </p:nvSpPr>
        <p:spPr>
          <a:xfrm xmlns:a="http://schemas.openxmlformats.org/drawingml/2006/main">
            <a:off x="609600" y="828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42335"/>
                </a:solidFill>
                <a:latin typeface="Helvetica Neue"/>
                <a:ea typeface="Helvetica Neue"/>
                <a:cs typeface="Helvetica Neue"/>
              </a:defRPr>
            </a:pPr>
            <a:r>
              <a:rPr sz="3300" b="1">
                <a:solidFill>
                  <a:srgbClr val="142335"/>
                </a:solidFill>
                <a:latin typeface="Helvetica Neue"/>
                <a:ea typeface="Helvetica Neue"/>
                <a:cs typeface="Helvetica Neue"/>
              </a:rPr>
              <a:t>Metric definitions and evidence trail</a:t>
            </a:r>
          </a:p>
        </p:txBody>
      </p:sp>
      <p:sp>
        <p:nvSpPr>
          <p:cNvPr id="3" name="">
            <a:extLst xmlns:a="http://schemas.openxmlformats.org/drawingml/2006/main">
              <a:ext uri="{FF2B5EF4-FFF2-40B4-BE49-F238E27FC236}">
                <a16:creationId xmlns:a16="http://schemas.microsoft.com/office/drawing/2014/main" id="{359B1B89-2EB1-4A3B-A3A4-CF5C49979364}"/>
              </a:ext>
            </a:extLst>
          </p:cNvPr>
          <p:cNvSpPr>
            <a:spLocks xmlns:a="http://schemas.openxmlformats.org/drawingml/2006/main" noGrp="1"/>
          </p:cNvSpPr>
          <p:nvPr/>
        </p:nvSpPr>
        <p:spPr>
          <a:xfrm xmlns:a="http://schemas.openxmlformats.org/drawingml/2006/main">
            <a:off x="609600" y="642937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IndicJudge  /  IBM research discussion</a:t>
            </a:r>
          </a:p>
        </p:txBody>
      </p:sp>
      <p:sp>
        <p:nvSpPr>
          <p:cNvPr id="4" name="">
            <a:extLst xmlns:a="http://schemas.openxmlformats.org/drawingml/2006/main">
              <a:ext uri="{FF2B5EF4-FFF2-40B4-BE49-F238E27FC236}">
                <a16:creationId xmlns:a16="http://schemas.microsoft.com/office/drawing/2014/main" id="{B1D24E6D-C418-4BCE-A6C7-637FF2E5EA54}"/>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26377"/>
                </a:solidFill>
                <a:latin typeface="Helvetica Neue"/>
                <a:ea typeface="Helvetica Neue"/>
                <a:cs typeface="Helvetica Neue"/>
              </a:defRPr>
            </a:pPr>
            <a:r>
              <a:rPr sz="1125" b="0">
                <a:solidFill>
                  <a:srgbClr val="526377"/>
                </a:solidFill>
                <a:latin typeface="Helvetica Neue"/>
                <a:ea typeface="Helvetica Neue"/>
                <a:cs typeface="Helvetica Neue"/>
              </a:rPr>
              <a:t>22</a:t>
            </a:r>
          </a:p>
        </p:txBody>
      </p:sp>
      <p:graphicFrame>
        <p:nvGraphicFramePr>
          <p:cNvPr id="12" name=""/>
          <p:cNvGraphicFramePr/>
          <p:nvPr/>
        </p:nvGraphicFramePr>
        <p:xfrm>
          <a:off xmlns:a="http://schemas.openxmlformats.org/drawingml/2006/main" x="609600" y="1905000"/>
          <a:ext xmlns:a="http://schemas.openxmlformats.org/drawingml/2006/main" cx="10972800" cy="2981325"/>
        </p:xfrm>
        <a:graphic xmlns:a="http://schemas.openxmlformats.org/drawingml/2006/main">
          <a:graphicData uri="http://schemas.openxmlformats.org/drawingml/2006/table">
            <a:tbl>
              <a:tblPr/>
              <a:tblGrid>
                <a:gridCol w="4143375"/>
                <a:gridCol w="6829425"/>
              </a:tblGrid>
              <a:tr h="596265">
                <a:tc>
                  <a:txBody>
                    <a:bodyPr>
                      <a:noAutofit/>
                    </a:bodyPr>
                    <a:lstStyle/>
                    <a:p>
                      <a:r>
                        <a:rPr sz="1875" b="1">
                          <a:solidFill>
                            <a:srgbClr val="0F62FE"/>
                          </a:solidFill>
                          <a:latin typeface="Helvetica Neue"/>
                          <a:ea typeface="Helvetica Neue"/>
                          <a:cs typeface="Helvetica Neue"/>
                        </a:rPr>
                        <a:t>Metric</a:t>
                      </a:r>
                    </a:p>
                  </a:txBody>
                  <a:tcPr marL="133350" marR="133350" marT="95250" marB="95250" anchor="ctr">
                    <a:solidFill>
                      <a:srgbClr val="FFFFFF"/>
                    </a:solidFill>
                  </a:tcPr>
                </a:tc>
                <a:tc>
                  <a:txBody>
                    <a:bodyPr>
                      <a:noAutofit/>
                    </a:bodyPr>
                    <a:lstStyle/>
                    <a:p>
                      <a:r>
                        <a:rPr sz="1875" b="1">
                          <a:solidFill>
                            <a:srgbClr val="0F62FE"/>
                          </a:solidFill>
                          <a:latin typeface="Helvetica Neue"/>
                          <a:ea typeface="Helvetica Neue"/>
                          <a:cs typeface="Helvetica Neue"/>
                        </a:rPr>
                        <a:t>Definition</a:t>
                      </a:r>
                    </a:p>
                  </a:txBody>
                  <a:tcPr marL="133350" marR="133350" marT="95250" marB="95250" anchor="ctr">
                    <a:solidFill>
                      <a:srgbClr val="FFFFFF"/>
                    </a:solidFill>
                  </a:tcPr>
                </a:tc>
              </a:tr>
              <a:tr h="596265">
                <a:tc>
                  <a:txBody>
                    <a:bodyPr>
                      <a:noAutofit/>
                    </a:bodyPr>
                    <a:lstStyle/>
                    <a:p>
                      <a:r>
                        <a:rPr sz="1875" b="0">
                          <a:solidFill>
                            <a:srgbClr val="142335"/>
                          </a:solidFill>
                          <a:latin typeface="Helvetica Neue"/>
                          <a:ea typeface="Helvetica Neue"/>
                          <a:cs typeface="Helvetica Neue"/>
                        </a:rPr>
                        <a:t>Answer / compliance agreement</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Equal Boolean labels ÷ matched responses</a:t>
                      </a:r>
                    </a:p>
                  </a:txBody>
                  <a:tcPr marL="133350" marR="133350" marT="95250" marB="95250" anchor="ctr">
                    <a:solidFill>
                      <a:srgbClr val="FFFFFF"/>
                    </a:solidFill>
                  </a:tcPr>
                </a:tc>
              </a:tr>
              <a:tr h="596265">
                <a:tc>
                  <a:txBody>
                    <a:bodyPr>
                      <a:noAutofit/>
                    </a:bodyPr>
                    <a:lstStyle/>
                    <a:p>
                      <a:r>
                        <a:rPr sz="1875" b="0">
                          <a:solidFill>
                            <a:srgbClr val="142335"/>
                          </a:solidFill>
                          <a:latin typeface="Helvetica Neue"/>
                          <a:ea typeface="Helvetica Neue"/>
                          <a:cs typeface="Helvetica Neue"/>
                        </a:rPr>
                        <a:t>Exact reasoning agreement</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Identical integer scores ÷ matched responses</a:t>
                      </a:r>
                    </a:p>
                  </a:txBody>
                  <a:tcPr marL="133350" marR="133350" marT="95250" marB="95250" anchor="ctr">
                    <a:solidFill>
                      <a:srgbClr val="FFFFFF"/>
                    </a:solidFill>
                  </a:tcPr>
                </a:tc>
              </a:tr>
              <a:tr h="596265">
                <a:tc>
                  <a:txBody>
                    <a:bodyPr>
                      <a:noAutofit/>
                    </a:bodyPr>
                    <a:lstStyle/>
                    <a:p>
                      <a:r>
                        <a:rPr sz="1875" b="0">
                          <a:solidFill>
                            <a:srgbClr val="142335"/>
                          </a:solidFill>
                          <a:latin typeface="Helvetica Neue"/>
                          <a:ea typeface="Helvetica Neue"/>
                          <a:cs typeface="Helvetica Neue"/>
                        </a:rPr>
                        <a:t>Reasoning MAE</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Mean absolute difference between two 0–5 scores</a:t>
                      </a:r>
                    </a:p>
                  </a:txBody>
                  <a:tcPr marL="133350" marR="133350" marT="95250" marB="95250" anchor="ctr">
                    <a:solidFill>
                      <a:srgbClr val="FFFFFF"/>
                    </a:solidFill>
                  </a:tcPr>
                </a:tc>
              </a:tr>
              <a:tr h="596265">
                <a:tc>
                  <a:txBody>
                    <a:bodyPr>
                      <a:noAutofit/>
                    </a:bodyPr>
                    <a:lstStyle/>
                    <a:p>
                      <a:r>
                        <a:rPr sz="1875" b="0">
                          <a:solidFill>
                            <a:srgbClr val="142335"/>
                          </a:solidFill>
                          <a:latin typeface="Helvetica Neue"/>
                          <a:ea typeface="Helvetica Neue"/>
                          <a:cs typeface="Helvetica Neue"/>
                        </a:rPr>
                        <a:t>Positive-label rate</a:t>
                      </a:r>
                    </a:p>
                  </a:txBody>
                  <a:tcPr marL="133350" marR="133350" marT="95250" marB="95250" anchor="ctr">
                    <a:solidFill>
                      <a:srgbClr val="FFFFFF"/>
                    </a:solidFill>
                  </a:tcPr>
                </a:tc>
                <a:tc>
                  <a:txBody>
                    <a:bodyPr>
                      <a:noAutofit/>
                    </a:bodyPr>
                    <a:lstStyle/>
                    <a:p>
                      <a:r>
                        <a:rPr sz="1875" b="0">
                          <a:solidFill>
                            <a:srgbClr val="142335"/>
                          </a:solidFill>
                          <a:latin typeface="Helvetica Neue"/>
                          <a:ea typeface="Helvetica Neue"/>
                          <a:cs typeface="Helvetica Neue"/>
                        </a:rPr>
                        <a:t>Responses labeled true ÷ evaluated responses</a:t>
                      </a:r>
                    </a:p>
                  </a:txBody>
                  <a:tcPr marL="133350" marR="13335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D8A957A-F84E-4DBB-850F-017FB50A42A7}"/>
              </a:ext>
            </a:extLst>
          </p:cNvPr>
          <p:cNvSpPr>
            <a:spLocks xmlns:a="http://schemas.openxmlformats.org/drawingml/2006/main" noGrp="1"/>
          </p:cNvSpPr>
          <p:nvPr/>
        </p:nvSpPr>
        <p:spPr>
          <a:xfrm xmlns:a="http://schemas.openxmlformats.org/drawingml/2006/main">
            <a:off x="609600" y="5238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F62FE"/>
                </a:solidFill>
                <a:latin typeface="Helvetica Neue"/>
                <a:ea typeface="Helvetica Neue"/>
                <a:cs typeface="Helvetica Neue"/>
              </a:defRPr>
            </a:pPr>
            <a:r>
              <a:rPr sz="1875" b="1">
                <a:solidFill>
                  <a:srgbClr val="0F62FE"/>
                </a:solidFill>
                <a:latin typeface="Helvetica Neue"/>
                <a:ea typeface="Helvetica Neue"/>
                <a:cs typeface="Helvetica Neue"/>
              </a:rPr>
              <a:t>Full comparison: 5,000 keys. Three-judge comparison: 500 shared keys.</a:t>
            </a:r>
          </a:p>
        </p:txBody>
      </p:sp>
      <p:sp>
        <p:nvSpPr>
          <p:cNvPr id="7" name="">
            <a:extLst xmlns:a="http://schemas.openxmlformats.org/drawingml/2006/main">
              <a:ext uri="{FF2B5EF4-FFF2-40B4-BE49-F238E27FC236}">
                <a16:creationId xmlns:a16="http://schemas.microsoft.com/office/drawing/2014/main" id="{E13A300E-FB8C-4524-91DD-04B5444701A0}"/>
              </a:ext>
            </a:extLst>
          </p:cNvPr>
          <p:cNvSpPr>
            <a:spLocks xmlns:a="http://schemas.openxmlformats.org/drawingml/2006/main" noGrp="1"/>
          </p:cNvSpPr>
          <p:nvPr/>
        </p:nvSpPr>
        <p:spPr>
          <a:xfrm xmlns:a="http://schemas.openxmlformats.org/drawingml/2006/main">
            <a:off x="609600" y="57340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377"/>
                </a:solidFill>
                <a:latin typeface="Helvetica Neue"/>
                <a:ea typeface="Helvetica Neue"/>
                <a:cs typeface="Helvetica Neue"/>
              </a:defRPr>
            </a:pPr>
            <a:r>
              <a:rPr sz="1800" b="0">
                <a:solidFill>
                  <a:srgbClr val="526377"/>
                </a:solidFill>
                <a:latin typeface="Helvetica Neue"/>
                <a:ea typeface="Helvetica Neue"/>
                <a:cs typeface="Helvetica Neue"/>
              </a:rPr>
              <a:t>File references, denominators and interpretation notes are included in speaker notes.</a:t>
            </a:r>
          </a:p>
        </p:txBody>
      </p:sp>
    </p:spTree>
    <p:extLst>
      <p:ext uri="{BB962C8B-B14F-4D97-AF65-F5344CB8AC3E}">
        <p14:creationId xmlns:p14="http://schemas.microsoft.com/office/powerpoint/2010/main" val="1728124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2026-09-30T06:21:07.9370000Z</dcterms:created>
  <dcterms:modified xsi:type="dcterms:W3CDTF">2026-09-30T06:21:07.9370000Z</dcterms:modified>
</coreProperties>
</file>